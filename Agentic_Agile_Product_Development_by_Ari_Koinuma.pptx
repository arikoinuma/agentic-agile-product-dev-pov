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aleway"/>
      <p:regular r:id="rId20"/>
      <p:bold r:id="rId21"/>
      <p:italic r:id="rId22"/>
      <p:boldItalic r:id="rId23"/>
    </p:embeddedFont>
    <p:embeddedFont>
      <p:font typeface="Lato"/>
      <p:regular r:id="rId24"/>
      <p:bold r:id="rId25"/>
      <p:italic r:id="rId26"/>
      <p:boldItalic r:id="rId27"/>
    </p:embeddedFont>
    <p:embeddedFont>
      <p:font typeface="Montserrat"/>
      <p:regular r:id="rId28"/>
      <p:bold r:id="rId29"/>
      <p:italic r:id="rId30"/>
      <p:boldItalic r:id="rId31"/>
    </p:embeddedFont>
    <p:embeddedFont>
      <p:font typeface="Montserrat Medium"/>
      <p:regular r:id="rId32"/>
      <p:bold r:id="rId33"/>
      <p:italic r:id="rId34"/>
      <p:boldItalic r:id="rId35"/>
    </p:embeddedFont>
    <p:embeddedFont>
      <p:font typeface="Montserrat ExtraBold"/>
      <p:bold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Lato-regular.fntdata"/><Relationship Id="rId23" Type="http://schemas.openxmlformats.org/officeDocument/2006/relationships/font" Target="fonts/Raleway-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8" Type="http://schemas.openxmlformats.org/officeDocument/2006/relationships/font" Target="fonts/Montserrat-regular.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6.xml"/><Relationship Id="rId33" Type="http://schemas.openxmlformats.org/officeDocument/2006/relationships/font" Target="fonts/MontserratMedium-bold.fntdata"/><Relationship Id="rId10" Type="http://schemas.openxmlformats.org/officeDocument/2006/relationships/slide" Target="slides/slide5.xml"/><Relationship Id="rId32" Type="http://schemas.openxmlformats.org/officeDocument/2006/relationships/font" Target="fonts/MontserratMedium-regular.fntdata"/><Relationship Id="rId13" Type="http://schemas.openxmlformats.org/officeDocument/2006/relationships/slide" Target="slides/slide8.xml"/><Relationship Id="rId35" Type="http://schemas.openxmlformats.org/officeDocument/2006/relationships/font" Target="fonts/MontserratMedium-boldItalic.fntdata"/><Relationship Id="rId12" Type="http://schemas.openxmlformats.org/officeDocument/2006/relationships/slide" Target="slides/slide7.xml"/><Relationship Id="rId34" Type="http://schemas.openxmlformats.org/officeDocument/2006/relationships/font" Target="fonts/MontserratMedium-italic.fntdata"/><Relationship Id="rId15" Type="http://schemas.openxmlformats.org/officeDocument/2006/relationships/slide" Target="slides/slide10.xml"/><Relationship Id="rId37" Type="http://schemas.openxmlformats.org/officeDocument/2006/relationships/font" Target="fonts/MontserratExtraBold-boldItalic.fntdata"/><Relationship Id="rId14" Type="http://schemas.openxmlformats.org/officeDocument/2006/relationships/slide" Target="slides/slide9.xml"/><Relationship Id="rId36" Type="http://schemas.openxmlformats.org/officeDocument/2006/relationships/font" Target="fonts/MontserratExtraBold-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cb9a0b07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cb9a0b07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d5b15f0a3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d5b15f0a3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72363054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72363054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7703a5743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f7703a5743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7703a5743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f7703a5743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7703a5743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f7703a5743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7703a5743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f7703a5743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7703a5743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f7703a5743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f7727724e6_8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f7727724e6_8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7703a5743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7703a5743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7703a5743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f7703a5743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f7703a5743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f7703a5743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d251bb473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d251bb473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3f78293ae7f_6_0)">
  <p:cSld name="Title slide (g3f78293ae7f_6_0)">
    <p:bg>
      <p:bgPr>
        <a:solidFill>
          <a:schemeClr val="dk1"/>
        </a:solidFill>
      </p:bgPr>
    </p:bg>
    <p:spTree>
      <p:nvGrpSpPr>
        <p:cNvPr id="68" name="Shape 68"/>
        <p:cNvGrpSpPr/>
        <p:nvPr/>
      </p:nvGrpSpPr>
      <p:grpSpPr>
        <a:xfrm>
          <a:off x="0" y="0"/>
          <a:ext cx="0" cy="0"/>
          <a:chOff x="0" y="0"/>
          <a:chExt cx="0" cy="0"/>
        </a:xfrm>
      </p:grpSpPr>
      <p:sp>
        <p:nvSpPr>
          <p:cNvPr id="69" name="Google Shape;69;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70" name="Google Shape;70;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71" name="Google Shape;71;p1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g3f78293ae7f_13_0)">
  <p:cSld name="Main point (g3f78293ae7f_13_0)">
    <p:bg>
      <p:bgPr>
        <a:solidFill>
          <a:srgbClr val="353535"/>
        </a:solidFill>
      </p:bgPr>
    </p:bg>
    <p:spTree>
      <p:nvGrpSpPr>
        <p:cNvPr id="72" name="Shape 72"/>
        <p:cNvGrpSpPr/>
        <p:nvPr/>
      </p:nvGrpSpPr>
      <p:grpSpPr>
        <a:xfrm>
          <a:off x="0" y="0"/>
          <a:ext cx="0" cy="0"/>
          <a:chOff x="0" y="0"/>
          <a:chExt cx="0" cy="0"/>
        </a:xfrm>
      </p:grpSpPr>
      <p:sp>
        <p:nvSpPr>
          <p:cNvPr id="73" name="Google Shape;73;p14"/>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74" name="Google Shape;74;p1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30.png"/><Relationship Id="rId12" Type="http://schemas.openxmlformats.org/officeDocument/2006/relationships/image" Target="../media/image28.png"/><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5.png"/><Relationship Id="rId4" Type="http://schemas.openxmlformats.org/officeDocument/2006/relationships/image" Target="../media/image35.png"/><Relationship Id="rId9"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31.png"/><Relationship Id="rId7" Type="http://schemas.openxmlformats.org/officeDocument/2006/relationships/image" Target="../media/image39.png"/><Relationship Id="rId8"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30.png"/><Relationship Id="rId12" Type="http://schemas.openxmlformats.org/officeDocument/2006/relationships/image" Target="../media/image28.png"/><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5.png"/><Relationship Id="rId4" Type="http://schemas.openxmlformats.org/officeDocument/2006/relationships/image" Target="../media/image35.png"/><Relationship Id="rId9"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31.png"/><Relationship Id="rId7" Type="http://schemas.openxmlformats.org/officeDocument/2006/relationships/image" Target="../media/image39.png"/><Relationship Id="rId8"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image" Target="../media/image9.png"/><Relationship Id="rId5"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35.png"/><Relationship Id="rId4" Type="http://schemas.openxmlformats.org/officeDocument/2006/relationships/image" Target="../media/image9.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6.png"/><Relationship Id="rId4" Type="http://schemas.openxmlformats.org/officeDocument/2006/relationships/image" Target="../media/image9.png"/><Relationship Id="rId5"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31.png"/><Relationship Id="rId4" Type="http://schemas.openxmlformats.org/officeDocument/2006/relationships/image" Target="../media/image9.png"/><Relationship Id="rId5"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39.png"/><Relationship Id="rId4" Type="http://schemas.openxmlformats.org/officeDocument/2006/relationships/image" Target="../media/image9.png"/><Relationship Id="rId5"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9.png"/><Relationship Id="rId5"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7.png"/><Relationship Id="rId4" Type="http://schemas.openxmlformats.org/officeDocument/2006/relationships/image" Target="../media/image9.png"/><Relationship Id="rId5"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0.png"/><Relationship Id="rId4" Type="http://schemas.openxmlformats.org/officeDocument/2006/relationships/image" Target="../media/image9.png"/><Relationship Id="rId5" Type="http://schemas.openxmlformats.org/officeDocument/2006/relationships/image" Target="../media/image4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9.png"/><Relationship Id="rId5"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9.png"/><Relationship Id="rId5"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cxnSp>
        <p:nvCxnSpPr>
          <p:cNvPr id="79" name="Google Shape;79;p15"/>
          <p:cNvCxnSpPr/>
          <p:nvPr/>
        </p:nvCxnSpPr>
        <p:spPr>
          <a:xfrm>
            <a:off x="2188725" y="415450"/>
            <a:ext cx="6533100" cy="300"/>
          </a:xfrm>
          <a:prstGeom prst="straightConnector1">
            <a:avLst/>
          </a:prstGeom>
          <a:noFill/>
          <a:ln cap="flat" cmpd="sng" w="38100">
            <a:solidFill>
              <a:schemeClr val="lt1"/>
            </a:solidFill>
            <a:prstDash val="solid"/>
            <a:round/>
            <a:headEnd len="sm" w="sm" type="none"/>
            <a:tailEnd len="sm" w="sm" type="none"/>
          </a:ln>
        </p:spPr>
      </p:cxnSp>
      <p:cxnSp>
        <p:nvCxnSpPr>
          <p:cNvPr id="80" name="Google Shape;80;p15"/>
          <p:cNvCxnSpPr/>
          <p:nvPr/>
        </p:nvCxnSpPr>
        <p:spPr>
          <a:xfrm flipH="1" rot="10800000">
            <a:off x="2219125" y="4739775"/>
            <a:ext cx="6502800" cy="12600"/>
          </a:xfrm>
          <a:prstGeom prst="straightConnector1">
            <a:avLst/>
          </a:prstGeom>
          <a:noFill/>
          <a:ln cap="flat" cmpd="sng" w="19050">
            <a:solidFill>
              <a:schemeClr val="lt1"/>
            </a:solidFill>
            <a:prstDash val="solid"/>
            <a:round/>
            <a:headEnd len="sm" w="sm" type="none"/>
            <a:tailEnd len="sm" w="sm" type="none"/>
          </a:ln>
        </p:spPr>
      </p:cxnSp>
      <p:sp>
        <p:nvSpPr>
          <p:cNvPr id="81" name="Google Shape;81;p15"/>
          <p:cNvSpPr txBox="1"/>
          <p:nvPr>
            <p:ph type="ctrTitle"/>
          </p:nvPr>
        </p:nvSpPr>
        <p:spPr>
          <a:xfrm>
            <a:off x="2087400" y="630225"/>
            <a:ext cx="66159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Agentic Agile</a:t>
            </a:r>
            <a:endParaRPr>
              <a:latin typeface="Montserrat"/>
              <a:ea typeface="Montserrat"/>
              <a:cs typeface="Montserrat"/>
              <a:sym typeface="Montserrat"/>
            </a:endParaRPr>
          </a:p>
          <a:p>
            <a:pPr indent="0" lvl="0" marL="0" rtl="0" algn="l">
              <a:spcBef>
                <a:spcPts val="0"/>
              </a:spcBef>
              <a:spcAft>
                <a:spcPts val="0"/>
              </a:spcAft>
              <a:buNone/>
            </a:pPr>
            <a:r>
              <a:rPr lang="en" sz="4000">
                <a:latin typeface="Montserrat"/>
                <a:ea typeface="Montserrat"/>
                <a:cs typeface="Montserrat"/>
                <a:sym typeface="Montserrat"/>
              </a:rPr>
              <a:t>Product Development</a:t>
            </a:r>
            <a:endParaRPr sz="4000">
              <a:latin typeface="Montserrat"/>
              <a:ea typeface="Montserrat"/>
              <a:cs typeface="Montserrat"/>
              <a:sym typeface="Montserrat"/>
            </a:endParaRPr>
          </a:p>
        </p:txBody>
      </p:sp>
      <p:sp>
        <p:nvSpPr>
          <p:cNvPr id="82" name="Google Shape;82;p15"/>
          <p:cNvSpPr txBox="1"/>
          <p:nvPr>
            <p:ph idx="1" type="subTitle"/>
          </p:nvPr>
        </p:nvSpPr>
        <p:spPr>
          <a:xfrm>
            <a:off x="2105875" y="3238450"/>
            <a:ext cx="66159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1100">
              <a:latin typeface="Montserrat Medium"/>
              <a:ea typeface="Montserrat Medium"/>
              <a:cs typeface="Montserrat Medium"/>
              <a:sym typeface="Montserrat Medium"/>
            </a:endParaRPr>
          </a:p>
          <a:p>
            <a:pPr indent="0" lvl="0" marL="0" rtl="0" algn="l">
              <a:spcBef>
                <a:spcPts val="0"/>
              </a:spcBef>
              <a:spcAft>
                <a:spcPts val="0"/>
              </a:spcAft>
              <a:buNone/>
            </a:pPr>
            <a:r>
              <a:rPr lang="en" sz="1100">
                <a:latin typeface="Montserrat Medium"/>
                <a:ea typeface="Montserrat Medium"/>
                <a:cs typeface="Montserrat Medium"/>
                <a:sym typeface="Montserrat Medium"/>
              </a:rPr>
              <a:t>August 2026</a:t>
            </a:r>
            <a:endParaRPr sz="2400">
              <a:latin typeface="Montserrat Medium"/>
              <a:ea typeface="Montserrat Medium"/>
              <a:cs typeface="Montserrat Medium"/>
              <a:sym typeface="Montserrat Medium"/>
            </a:endParaRPr>
          </a:p>
          <a:p>
            <a:pPr indent="0" lvl="0" marL="0" rtl="0" algn="l">
              <a:spcBef>
                <a:spcPts val="1000"/>
              </a:spcBef>
              <a:spcAft>
                <a:spcPts val="0"/>
              </a:spcAft>
              <a:buNone/>
            </a:pPr>
            <a:r>
              <a:rPr lang="en" sz="2100">
                <a:latin typeface="Montserrat Medium"/>
                <a:ea typeface="Montserrat Medium"/>
                <a:cs typeface="Montserrat Medium"/>
                <a:sym typeface="Montserrat Medium"/>
              </a:rPr>
              <a:t>By Ari Koinuma</a:t>
            </a:r>
            <a:endParaRPr sz="2100">
              <a:latin typeface="Montserrat Medium"/>
              <a:ea typeface="Montserrat Medium"/>
              <a:cs typeface="Montserrat Medium"/>
              <a:sym typeface="Montserrat Medium"/>
            </a:endParaRPr>
          </a:p>
        </p:txBody>
      </p:sp>
      <p:pic>
        <p:nvPicPr>
          <p:cNvPr id="83" name="Google Shape;83;p15"/>
          <p:cNvPicPr preferRelativeResize="0"/>
          <p:nvPr/>
        </p:nvPicPr>
        <p:blipFill rotWithShape="1">
          <a:blip r:embed="rId3">
            <a:alphaModFix/>
          </a:blip>
          <a:srcRect b="0" l="0" r="0" t="0"/>
          <a:stretch/>
        </p:blipFill>
        <p:spPr>
          <a:xfrm>
            <a:off x="2153687" y="2647950"/>
            <a:ext cx="533400" cy="533400"/>
          </a:xfrm>
          <a:prstGeom prst="rect">
            <a:avLst/>
          </a:prstGeom>
          <a:noFill/>
          <a:ln>
            <a:noFill/>
          </a:ln>
        </p:spPr>
      </p:pic>
      <p:pic>
        <p:nvPicPr>
          <p:cNvPr id="84" name="Google Shape;84;p15"/>
          <p:cNvPicPr preferRelativeResize="0"/>
          <p:nvPr/>
        </p:nvPicPr>
        <p:blipFill rotWithShape="1">
          <a:blip r:embed="rId4">
            <a:alphaModFix/>
          </a:blip>
          <a:srcRect b="0" l="0" r="0" t="0"/>
          <a:stretch/>
        </p:blipFill>
        <p:spPr>
          <a:xfrm>
            <a:off x="2820437" y="2647950"/>
            <a:ext cx="533400" cy="533400"/>
          </a:xfrm>
          <a:prstGeom prst="rect">
            <a:avLst/>
          </a:prstGeom>
          <a:noFill/>
          <a:ln>
            <a:noFill/>
          </a:ln>
        </p:spPr>
      </p:pic>
      <p:pic>
        <p:nvPicPr>
          <p:cNvPr id="85" name="Google Shape;85;p15"/>
          <p:cNvPicPr preferRelativeResize="0"/>
          <p:nvPr/>
        </p:nvPicPr>
        <p:blipFill rotWithShape="1">
          <a:blip r:embed="rId5">
            <a:alphaModFix/>
          </a:blip>
          <a:srcRect b="0" l="0" r="0" t="0"/>
          <a:stretch/>
        </p:blipFill>
        <p:spPr>
          <a:xfrm>
            <a:off x="3487187" y="2647950"/>
            <a:ext cx="533400" cy="533400"/>
          </a:xfrm>
          <a:prstGeom prst="rect">
            <a:avLst/>
          </a:prstGeom>
          <a:noFill/>
          <a:ln>
            <a:noFill/>
          </a:ln>
        </p:spPr>
      </p:pic>
      <p:pic>
        <p:nvPicPr>
          <p:cNvPr id="86" name="Google Shape;86;p15"/>
          <p:cNvPicPr preferRelativeResize="0"/>
          <p:nvPr/>
        </p:nvPicPr>
        <p:blipFill rotWithShape="1">
          <a:blip r:embed="rId6">
            <a:alphaModFix/>
          </a:blip>
          <a:srcRect b="0" l="0" r="0" t="0"/>
          <a:stretch/>
        </p:blipFill>
        <p:spPr>
          <a:xfrm>
            <a:off x="4153937" y="2647950"/>
            <a:ext cx="533400" cy="533400"/>
          </a:xfrm>
          <a:prstGeom prst="rect">
            <a:avLst/>
          </a:prstGeom>
          <a:noFill/>
          <a:ln>
            <a:noFill/>
          </a:ln>
        </p:spPr>
      </p:pic>
      <p:pic>
        <p:nvPicPr>
          <p:cNvPr id="87" name="Google Shape;87;p15"/>
          <p:cNvPicPr preferRelativeResize="0"/>
          <p:nvPr/>
        </p:nvPicPr>
        <p:blipFill rotWithShape="1">
          <a:blip r:embed="rId7">
            <a:alphaModFix/>
          </a:blip>
          <a:srcRect b="0" l="0" r="0" t="0"/>
          <a:stretch/>
        </p:blipFill>
        <p:spPr>
          <a:xfrm>
            <a:off x="4820687" y="2647950"/>
            <a:ext cx="533400" cy="533400"/>
          </a:xfrm>
          <a:prstGeom prst="rect">
            <a:avLst/>
          </a:prstGeom>
          <a:noFill/>
          <a:ln>
            <a:noFill/>
          </a:ln>
        </p:spPr>
      </p:pic>
      <p:pic>
        <p:nvPicPr>
          <p:cNvPr id="88" name="Google Shape;88;p15"/>
          <p:cNvPicPr preferRelativeResize="0"/>
          <p:nvPr/>
        </p:nvPicPr>
        <p:blipFill rotWithShape="1">
          <a:blip r:embed="rId8">
            <a:alphaModFix/>
          </a:blip>
          <a:srcRect b="0" l="0" r="0" t="0"/>
          <a:stretch/>
        </p:blipFill>
        <p:spPr>
          <a:xfrm>
            <a:off x="5487437" y="2647950"/>
            <a:ext cx="533400" cy="533400"/>
          </a:xfrm>
          <a:prstGeom prst="rect">
            <a:avLst/>
          </a:prstGeom>
          <a:noFill/>
          <a:ln>
            <a:noFill/>
          </a:ln>
        </p:spPr>
      </p:pic>
      <p:pic>
        <p:nvPicPr>
          <p:cNvPr id="89" name="Google Shape;89;p15"/>
          <p:cNvPicPr preferRelativeResize="0"/>
          <p:nvPr/>
        </p:nvPicPr>
        <p:blipFill rotWithShape="1">
          <a:blip r:embed="rId9">
            <a:alphaModFix/>
          </a:blip>
          <a:srcRect b="0" l="0" r="0" t="0"/>
          <a:stretch/>
        </p:blipFill>
        <p:spPr>
          <a:xfrm>
            <a:off x="6154187" y="2647950"/>
            <a:ext cx="533400" cy="533400"/>
          </a:xfrm>
          <a:prstGeom prst="rect">
            <a:avLst/>
          </a:prstGeom>
          <a:noFill/>
          <a:ln>
            <a:noFill/>
          </a:ln>
        </p:spPr>
      </p:pic>
      <p:pic>
        <p:nvPicPr>
          <p:cNvPr id="90" name="Google Shape;90;p15"/>
          <p:cNvPicPr preferRelativeResize="0"/>
          <p:nvPr/>
        </p:nvPicPr>
        <p:blipFill rotWithShape="1">
          <a:blip r:embed="rId10">
            <a:alphaModFix/>
          </a:blip>
          <a:srcRect b="0" l="0" r="0" t="0"/>
          <a:stretch/>
        </p:blipFill>
        <p:spPr>
          <a:xfrm>
            <a:off x="6820937" y="2647950"/>
            <a:ext cx="533400" cy="533400"/>
          </a:xfrm>
          <a:prstGeom prst="rect">
            <a:avLst/>
          </a:prstGeom>
          <a:noFill/>
          <a:ln>
            <a:noFill/>
          </a:ln>
        </p:spPr>
      </p:pic>
      <p:pic>
        <p:nvPicPr>
          <p:cNvPr id="91" name="Google Shape;91;p15"/>
          <p:cNvPicPr preferRelativeResize="0"/>
          <p:nvPr/>
        </p:nvPicPr>
        <p:blipFill rotWithShape="1">
          <a:blip r:embed="rId11">
            <a:alphaModFix/>
          </a:blip>
          <a:srcRect b="0" l="0" r="0" t="0"/>
          <a:stretch/>
        </p:blipFill>
        <p:spPr>
          <a:xfrm>
            <a:off x="7487687" y="2647950"/>
            <a:ext cx="533400" cy="533400"/>
          </a:xfrm>
          <a:prstGeom prst="rect">
            <a:avLst/>
          </a:prstGeom>
          <a:noFill/>
          <a:ln>
            <a:noFill/>
          </a:ln>
        </p:spPr>
      </p:pic>
      <p:pic>
        <p:nvPicPr>
          <p:cNvPr id="92" name="Google Shape;92;p15"/>
          <p:cNvPicPr preferRelativeResize="0"/>
          <p:nvPr/>
        </p:nvPicPr>
        <p:blipFill rotWithShape="1">
          <a:blip r:embed="rId12">
            <a:alphaModFix/>
          </a:blip>
          <a:srcRect b="0" l="0" r="0" t="0"/>
          <a:stretch/>
        </p:blipFill>
        <p:spPr>
          <a:xfrm>
            <a:off x="8154437" y="2647950"/>
            <a:ext cx="533400" cy="533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6"/>
          <p:cNvSpPr txBox="1"/>
          <p:nvPr>
            <p:ph type="title"/>
          </p:nvPr>
        </p:nvSpPr>
        <p:spPr>
          <a:xfrm>
            <a:off x="283100" y="419799"/>
            <a:ext cx="8620500" cy="101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Everyone does agile, but </a:t>
            </a:r>
            <a:endParaRPr sz="2400">
              <a:latin typeface="Montserrat"/>
              <a:ea typeface="Montserrat"/>
              <a:cs typeface="Montserrat"/>
              <a:sym typeface="Montserrat"/>
            </a:endParaRPr>
          </a:p>
          <a:p>
            <a:pPr indent="0" lvl="0" marL="0" rtl="0" algn="l">
              <a:spcBef>
                <a:spcPts val="0"/>
              </a:spcBef>
              <a:spcAft>
                <a:spcPts val="0"/>
              </a:spcAft>
              <a:buNone/>
            </a:pPr>
            <a:r>
              <a:rPr lang="en" sz="3400">
                <a:solidFill>
                  <a:schemeClr val="dk1"/>
                </a:solidFill>
                <a:latin typeface="Montserrat"/>
                <a:ea typeface="Montserrat"/>
                <a:cs typeface="Montserrat"/>
                <a:sym typeface="Montserrat"/>
              </a:rPr>
              <a:t>the point is often missed</a:t>
            </a:r>
            <a:endParaRPr sz="3400">
              <a:solidFill>
                <a:schemeClr val="dk1"/>
              </a:solidFill>
              <a:latin typeface="Montserrat"/>
              <a:ea typeface="Montserrat"/>
              <a:cs typeface="Montserrat"/>
              <a:sym typeface="Montserrat"/>
            </a:endParaRPr>
          </a:p>
        </p:txBody>
      </p:sp>
      <p:sp>
        <p:nvSpPr>
          <p:cNvPr id="98" name="Google Shape;98;p16"/>
          <p:cNvSpPr/>
          <p:nvPr/>
        </p:nvSpPr>
        <p:spPr>
          <a:xfrm>
            <a:off x="371775" y="1696549"/>
            <a:ext cx="2629500" cy="2244900"/>
          </a:xfrm>
          <a:prstGeom prst="wedgeRectCallout">
            <a:avLst>
              <a:gd fmla="val -20833" name="adj1"/>
              <a:gd fmla="val 6250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p:nvPr/>
        </p:nvSpPr>
        <p:spPr>
          <a:xfrm>
            <a:off x="3210432" y="1696549"/>
            <a:ext cx="2629500" cy="2244900"/>
          </a:xfrm>
          <a:prstGeom prst="wedgeRectCallout">
            <a:avLst>
              <a:gd fmla="val -20833" name="adj1"/>
              <a:gd fmla="val 625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6049089" y="1696549"/>
            <a:ext cx="2629500" cy="2244900"/>
          </a:xfrm>
          <a:prstGeom prst="wedgeRectCallout">
            <a:avLst>
              <a:gd fmla="val -20833" name="adj1"/>
              <a:gd fmla="val 625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txBox="1"/>
          <p:nvPr>
            <p:ph type="title"/>
          </p:nvPr>
        </p:nvSpPr>
        <p:spPr>
          <a:xfrm>
            <a:off x="6125275" y="1769549"/>
            <a:ext cx="2481600" cy="200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Montserrat"/>
                <a:ea typeface="Montserrat"/>
                <a:cs typeface="Montserrat"/>
                <a:sym typeface="Montserrat"/>
              </a:rPr>
              <a:t>You want to </a:t>
            </a:r>
            <a:r>
              <a:rPr lang="en" sz="1400">
                <a:latin typeface="Montserrat"/>
                <a:ea typeface="Montserrat"/>
                <a:cs typeface="Montserrat"/>
                <a:sym typeface="Montserrat"/>
              </a:rPr>
              <a:t>continuously reprioritize</a:t>
            </a:r>
            <a:endParaRPr sz="1400">
              <a:latin typeface="Montserrat"/>
              <a:ea typeface="Montserrat"/>
              <a:cs typeface="Montserrat"/>
              <a:sym typeface="Montserrat"/>
            </a:endParaRPr>
          </a:p>
          <a:p>
            <a:pPr indent="0" lvl="0" marL="0" rtl="0" algn="l">
              <a:spcBef>
                <a:spcPts val="1200"/>
              </a:spcBef>
              <a:spcAft>
                <a:spcPts val="1200"/>
              </a:spcAft>
              <a:buNone/>
            </a:pPr>
            <a:r>
              <a:rPr lang="en" sz="1600">
                <a:latin typeface="Montserrat"/>
                <a:ea typeface="Montserrat"/>
                <a:cs typeface="Montserrat"/>
                <a:sym typeface="Montserrat"/>
              </a:rPr>
              <a:t>So that high-value activities are always executed first</a:t>
            </a:r>
            <a:endParaRPr sz="1400">
              <a:solidFill>
                <a:schemeClr val="lt1"/>
              </a:solidFill>
              <a:latin typeface="Montserrat"/>
              <a:ea typeface="Montserrat"/>
              <a:cs typeface="Montserrat"/>
              <a:sym typeface="Montserrat"/>
            </a:endParaRPr>
          </a:p>
        </p:txBody>
      </p:sp>
      <p:sp>
        <p:nvSpPr>
          <p:cNvPr id="102" name="Google Shape;102;p16"/>
          <p:cNvSpPr txBox="1"/>
          <p:nvPr>
            <p:ph type="title"/>
          </p:nvPr>
        </p:nvSpPr>
        <p:spPr>
          <a:xfrm>
            <a:off x="447975" y="1769549"/>
            <a:ext cx="2481600" cy="200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Montserrat"/>
                <a:ea typeface="Montserrat"/>
                <a:cs typeface="Montserrat"/>
                <a:sym typeface="Montserrat"/>
              </a:rPr>
              <a:t>You want to </a:t>
            </a:r>
            <a:endParaRPr sz="1500">
              <a:latin typeface="Montserrat"/>
              <a:ea typeface="Montserrat"/>
              <a:cs typeface="Montserrat"/>
              <a:sym typeface="Montserrat"/>
            </a:endParaRPr>
          </a:p>
          <a:p>
            <a:pPr indent="0" lvl="0" marL="0" rtl="0" algn="l">
              <a:spcBef>
                <a:spcPts val="0"/>
              </a:spcBef>
              <a:spcAft>
                <a:spcPts val="0"/>
              </a:spcAft>
              <a:buNone/>
            </a:pPr>
            <a:r>
              <a:rPr lang="en" sz="1500">
                <a:latin typeface="Montserrat"/>
                <a:ea typeface="Montserrat"/>
                <a:cs typeface="Montserrat"/>
                <a:sym typeface="Montserrat"/>
              </a:rPr>
              <a:t>timebox releases</a:t>
            </a:r>
            <a:endParaRPr sz="1500">
              <a:latin typeface="Montserrat"/>
              <a:ea typeface="Montserrat"/>
              <a:cs typeface="Montserrat"/>
              <a:sym typeface="Montserrat"/>
            </a:endParaRPr>
          </a:p>
          <a:p>
            <a:pPr indent="0" lvl="0" marL="0" rtl="0" algn="l">
              <a:spcBef>
                <a:spcPts val="1000"/>
              </a:spcBef>
              <a:spcAft>
                <a:spcPts val="1200"/>
              </a:spcAft>
              <a:buNone/>
            </a:pPr>
            <a:r>
              <a:rPr lang="en" sz="1700">
                <a:latin typeface="Montserrat"/>
                <a:ea typeface="Montserrat"/>
                <a:cs typeface="Montserrat"/>
                <a:sym typeface="Montserrat"/>
              </a:rPr>
              <a:t>To reduce the risk of over-investing in features that don’t lead to results</a:t>
            </a:r>
            <a:endParaRPr sz="1000">
              <a:solidFill>
                <a:schemeClr val="lt1"/>
              </a:solidFill>
              <a:latin typeface="Montserrat"/>
              <a:ea typeface="Montserrat"/>
              <a:cs typeface="Montserrat"/>
              <a:sym typeface="Montserrat"/>
            </a:endParaRPr>
          </a:p>
        </p:txBody>
      </p:sp>
      <p:sp>
        <p:nvSpPr>
          <p:cNvPr id="103" name="Google Shape;103;p16"/>
          <p:cNvSpPr txBox="1"/>
          <p:nvPr>
            <p:ph type="title"/>
          </p:nvPr>
        </p:nvSpPr>
        <p:spPr>
          <a:xfrm>
            <a:off x="3286625" y="1769549"/>
            <a:ext cx="2481600" cy="200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Montserrat"/>
                <a:ea typeface="Montserrat"/>
                <a:cs typeface="Montserrat"/>
                <a:sym typeface="Montserrat"/>
              </a:rPr>
              <a:t>You want to </a:t>
            </a:r>
            <a:endParaRPr sz="1500">
              <a:latin typeface="Montserrat"/>
              <a:ea typeface="Montserrat"/>
              <a:cs typeface="Montserrat"/>
              <a:sym typeface="Montserrat"/>
            </a:endParaRPr>
          </a:p>
          <a:p>
            <a:pPr indent="0" lvl="0" marL="0" rtl="0" algn="l">
              <a:spcBef>
                <a:spcPts val="0"/>
              </a:spcBef>
              <a:spcAft>
                <a:spcPts val="0"/>
              </a:spcAft>
              <a:buNone/>
            </a:pPr>
            <a:r>
              <a:rPr lang="en" sz="1500">
                <a:latin typeface="Montserrat"/>
                <a:ea typeface="Montserrat"/>
                <a:cs typeface="Montserrat"/>
                <a:sym typeface="Montserrat"/>
              </a:rPr>
              <a:t>listen to feedback</a:t>
            </a:r>
            <a:endParaRPr sz="1500">
              <a:latin typeface="Montserrat"/>
              <a:ea typeface="Montserrat"/>
              <a:cs typeface="Montserrat"/>
              <a:sym typeface="Montserrat"/>
            </a:endParaRPr>
          </a:p>
          <a:p>
            <a:pPr indent="0" lvl="0" marL="0" rtl="0" algn="l">
              <a:spcBef>
                <a:spcPts val="1000"/>
              </a:spcBef>
              <a:spcAft>
                <a:spcPts val="0"/>
              </a:spcAft>
              <a:buNone/>
            </a:pPr>
            <a:r>
              <a:rPr lang="en" sz="1600">
                <a:latin typeface="Montserrat"/>
                <a:ea typeface="Montserrat"/>
                <a:cs typeface="Montserrat"/>
                <a:sym typeface="Montserrat"/>
              </a:rPr>
              <a:t>Otherwise you won’t know your product is achieving the intended results</a:t>
            </a:r>
            <a:endParaRPr sz="1600">
              <a:latin typeface="Montserrat"/>
              <a:ea typeface="Montserrat"/>
              <a:cs typeface="Montserrat"/>
              <a:sym typeface="Montserrat"/>
            </a:endParaRPr>
          </a:p>
        </p:txBody>
      </p:sp>
      <p:sp>
        <p:nvSpPr>
          <p:cNvPr id="104" name="Google Shape;104;p16"/>
          <p:cNvSpPr txBox="1"/>
          <p:nvPr/>
        </p:nvSpPr>
        <p:spPr>
          <a:xfrm>
            <a:off x="283100" y="4400346"/>
            <a:ext cx="8395500" cy="25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Montserrat"/>
                <a:ea typeface="Montserrat"/>
                <a:cs typeface="Montserrat"/>
                <a:sym typeface="Montserrat"/>
              </a:rPr>
              <a:t>But there is too much to process manually</a:t>
            </a:r>
            <a:endParaRPr b="1" sz="1900">
              <a:solidFill>
                <a:schemeClr val="dk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17"/>
          <p:cNvSpPr txBox="1"/>
          <p:nvPr>
            <p:ph idx="4294967295" type="title"/>
          </p:nvPr>
        </p:nvSpPr>
        <p:spPr>
          <a:xfrm>
            <a:off x="189950" y="34300"/>
            <a:ext cx="76815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0" lang="en">
                <a:solidFill>
                  <a:schemeClr val="dk1"/>
                </a:solidFill>
                <a:latin typeface="Montserrat ExtraBold"/>
                <a:ea typeface="Montserrat ExtraBold"/>
                <a:cs typeface="Montserrat ExtraBold"/>
                <a:sym typeface="Montserrat ExtraBold"/>
              </a:rPr>
              <a:t>Agentic Agile Product Development</a:t>
            </a:r>
            <a:endParaRPr b="0">
              <a:latin typeface="Montserrat ExtraBold"/>
              <a:ea typeface="Montserrat ExtraBold"/>
              <a:cs typeface="Montserrat ExtraBold"/>
              <a:sym typeface="Montserrat ExtraBold"/>
            </a:endParaRPr>
          </a:p>
        </p:txBody>
      </p:sp>
      <p:sp>
        <p:nvSpPr>
          <p:cNvPr id="110" name="Google Shape;110;p17"/>
          <p:cNvSpPr/>
          <p:nvPr/>
        </p:nvSpPr>
        <p:spPr>
          <a:xfrm>
            <a:off x="4485359" y="2887470"/>
            <a:ext cx="1412400" cy="550800"/>
          </a:xfrm>
          <a:prstGeom prst="roundRect">
            <a:avLst>
              <a:gd fmla="val 16667" name="adj"/>
            </a:avLst>
          </a:prstGeom>
          <a:solidFill>
            <a:srgbClr val="05538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Montserrat ExtraBold"/>
              <a:ea typeface="Montserrat ExtraBold"/>
              <a:cs typeface="Montserrat ExtraBold"/>
              <a:sym typeface="Montserrat ExtraBold"/>
            </a:endParaRPr>
          </a:p>
        </p:txBody>
      </p:sp>
      <p:sp>
        <p:nvSpPr>
          <p:cNvPr id="111" name="Google Shape;111;p17"/>
          <p:cNvSpPr/>
          <p:nvPr/>
        </p:nvSpPr>
        <p:spPr>
          <a:xfrm>
            <a:off x="3072962" y="2339147"/>
            <a:ext cx="1412400" cy="550800"/>
          </a:xfrm>
          <a:prstGeom prst="roundRect">
            <a:avLst>
              <a:gd fmla="val 16667" name="adj"/>
            </a:avLst>
          </a:prstGeom>
          <a:solidFill>
            <a:srgbClr val="1155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Montserrat ExtraBold"/>
              <a:ea typeface="Montserrat ExtraBold"/>
              <a:cs typeface="Montserrat ExtraBold"/>
              <a:sym typeface="Montserrat ExtraBold"/>
            </a:endParaRPr>
          </a:p>
        </p:txBody>
      </p:sp>
      <p:sp>
        <p:nvSpPr>
          <p:cNvPr id="112" name="Google Shape;112;p17"/>
          <p:cNvSpPr/>
          <p:nvPr/>
        </p:nvSpPr>
        <p:spPr>
          <a:xfrm>
            <a:off x="1660555" y="1778397"/>
            <a:ext cx="1412400" cy="550800"/>
          </a:xfrm>
          <a:prstGeom prst="roundRect">
            <a:avLst>
              <a:gd fmla="val 16667" name="adj"/>
            </a:avLst>
          </a:prstGeom>
          <a:solidFill>
            <a:srgbClr val="35B0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Montserrat ExtraBold"/>
              <a:ea typeface="Montserrat ExtraBold"/>
              <a:cs typeface="Montserrat ExtraBold"/>
              <a:sym typeface="Montserrat ExtraBold"/>
            </a:endParaRPr>
          </a:p>
        </p:txBody>
      </p:sp>
      <p:sp>
        <p:nvSpPr>
          <p:cNvPr id="113" name="Google Shape;113;p17"/>
          <p:cNvSpPr/>
          <p:nvPr/>
        </p:nvSpPr>
        <p:spPr>
          <a:xfrm>
            <a:off x="250733" y="1227600"/>
            <a:ext cx="1412400" cy="550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Montserrat ExtraBold"/>
              <a:ea typeface="Montserrat ExtraBold"/>
              <a:cs typeface="Montserrat ExtraBold"/>
              <a:sym typeface="Montserrat ExtraBold"/>
            </a:endParaRPr>
          </a:p>
        </p:txBody>
      </p:sp>
      <p:sp>
        <p:nvSpPr>
          <p:cNvPr id="114" name="Google Shape;114;p17"/>
          <p:cNvSpPr/>
          <p:nvPr/>
        </p:nvSpPr>
        <p:spPr>
          <a:xfrm>
            <a:off x="250718" y="3901100"/>
            <a:ext cx="1253400" cy="550800"/>
          </a:xfrm>
          <a:prstGeom prst="roundRect">
            <a:avLst>
              <a:gd fmla="val 16667" name="adj"/>
            </a:avLst>
          </a:prstGeom>
          <a:solidFill>
            <a:srgbClr val="E44856"/>
          </a:solidFill>
          <a:ln>
            <a:noFill/>
          </a:ln>
        </p:spPr>
        <p:txBody>
          <a:bodyPr anchorCtr="0" anchor="ctr" bIns="91400" lIns="91400" spcFirstLastPara="1" rIns="91400" wrap="square" tIns="91400">
            <a:noAutofit/>
          </a:bodyPr>
          <a:lstStyle/>
          <a:p>
            <a:pPr indent="0" lvl="0" marL="0" rtl="0" algn="ctr">
              <a:spcBef>
                <a:spcPts val="0"/>
              </a:spcBef>
              <a:spcAft>
                <a:spcPts val="0"/>
              </a:spcAft>
              <a:buNone/>
            </a:pPr>
            <a:r>
              <a:t/>
            </a:r>
            <a:endParaRPr i="0" sz="1000">
              <a:solidFill>
                <a:srgbClr val="FFFFFF"/>
              </a:solidFill>
              <a:latin typeface="Montserrat ExtraBold"/>
              <a:ea typeface="Montserrat ExtraBold"/>
              <a:cs typeface="Montserrat ExtraBold"/>
              <a:sym typeface="Montserrat ExtraBold"/>
            </a:endParaRPr>
          </a:p>
        </p:txBody>
      </p:sp>
      <p:sp>
        <p:nvSpPr>
          <p:cNvPr id="115" name="Google Shape;115;p17"/>
          <p:cNvSpPr/>
          <p:nvPr/>
        </p:nvSpPr>
        <p:spPr>
          <a:xfrm>
            <a:off x="3343598" y="3900200"/>
            <a:ext cx="1253400" cy="550800"/>
          </a:xfrm>
          <a:prstGeom prst="roundRect">
            <a:avLst>
              <a:gd fmla="val 16667" name="adj"/>
            </a:avLst>
          </a:prstGeom>
          <a:solidFill>
            <a:srgbClr val="F58E31"/>
          </a:solidFill>
          <a:ln>
            <a:noFill/>
          </a:ln>
        </p:spPr>
        <p:txBody>
          <a:bodyPr anchorCtr="0" anchor="ctr" bIns="91400" lIns="91400" spcFirstLastPara="1" rIns="91400" wrap="square" tIns="91400">
            <a:noAutofit/>
          </a:bodyPr>
          <a:lstStyle/>
          <a:p>
            <a:pPr indent="0" lvl="0" marL="0" rtl="0" algn="ctr">
              <a:spcBef>
                <a:spcPts val="0"/>
              </a:spcBef>
              <a:spcAft>
                <a:spcPts val="0"/>
              </a:spcAft>
              <a:buNone/>
            </a:pPr>
            <a:r>
              <a:t/>
            </a:r>
            <a:endParaRPr i="0" sz="1000">
              <a:solidFill>
                <a:srgbClr val="FFFFFF"/>
              </a:solidFill>
              <a:latin typeface="Montserrat ExtraBold"/>
              <a:ea typeface="Montserrat ExtraBold"/>
              <a:cs typeface="Montserrat ExtraBold"/>
              <a:sym typeface="Montserrat ExtraBold"/>
            </a:endParaRPr>
          </a:p>
        </p:txBody>
      </p:sp>
      <p:sp>
        <p:nvSpPr>
          <p:cNvPr id="116" name="Google Shape;116;p17"/>
          <p:cNvSpPr/>
          <p:nvPr/>
        </p:nvSpPr>
        <p:spPr>
          <a:xfrm>
            <a:off x="4908315" y="3898650"/>
            <a:ext cx="1253400" cy="550800"/>
          </a:xfrm>
          <a:prstGeom prst="roundRect">
            <a:avLst>
              <a:gd fmla="val 16667" name="adj"/>
            </a:avLst>
          </a:prstGeom>
          <a:solidFill>
            <a:srgbClr val="FFAE88"/>
          </a:solidFill>
          <a:ln>
            <a:noFill/>
          </a:ln>
        </p:spPr>
        <p:txBody>
          <a:bodyPr anchorCtr="0" anchor="ctr" bIns="91400" lIns="91400" spcFirstLastPara="1" rIns="91400" wrap="square" tIns="91400">
            <a:noAutofit/>
          </a:bodyPr>
          <a:lstStyle/>
          <a:p>
            <a:pPr indent="0" lvl="0" marL="0" rtl="0" algn="ctr">
              <a:spcBef>
                <a:spcPts val="0"/>
              </a:spcBef>
              <a:spcAft>
                <a:spcPts val="0"/>
              </a:spcAft>
              <a:buNone/>
            </a:pPr>
            <a:r>
              <a:t/>
            </a:r>
            <a:endParaRPr i="0" sz="1000">
              <a:solidFill>
                <a:srgbClr val="FFFFFF"/>
              </a:solidFill>
              <a:latin typeface="Montserrat ExtraBold"/>
              <a:ea typeface="Montserrat ExtraBold"/>
              <a:cs typeface="Montserrat ExtraBold"/>
              <a:sym typeface="Montserrat ExtraBold"/>
            </a:endParaRPr>
          </a:p>
        </p:txBody>
      </p:sp>
      <p:sp>
        <p:nvSpPr>
          <p:cNvPr id="117" name="Google Shape;117;p17"/>
          <p:cNvSpPr/>
          <p:nvPr/>
        </p:nvSpPr>
        <p:spPr>
          <a:xfrm>
            <a:off x="7833050" y="3872336"/>
            <a:ext cx="823200" cy="579000"/>
          </a:xfrm>
          <a:prstGeom prst="ellips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Montserrat ExtraBold"/>
                <a:ea typeface="Montserrat ExtraBold"/>
                <a:cs typeface="Montserrat ExtraBold"/>
                <a:sym typeface="Montserrat ExtraBold"/>
              </a:rPr>
              <a:t>Release</a:t>
            </a:r>
            <a:endParaRPr sz="700">
              <a:solidFill>
                <a:schemeClr val="dk1"/>
              </a:solidFill>
              <a:latin typeface="Montserrat ExtraBold"/>
              <a:ea typeface="Montserrat ExtraBold"/>
              <a:cs typeface="Montserrat ExtraBold"/>
              <a:sym typeface="Montserrat ExtraBold"/>
            </a:endParaRPr>
          </a:p>
        </p:txBody>
      </p:sp>
      <p:sp>
        <p:nvSpPr>
          <p:cNvPr id="118" name="Google Shape;118;p17"/>
          <p:cNvSpPr/>
          <p:nvPr/>
        </p:nvSpPr>
        <p:spPr>
          <a:xfrm>
            <a:off x="7245713" y="1227601"/>
            <a:ext cx="1412400" cy="550800"/>
          </a:xfrm>
          <a:prstGeom prst="roundRect">
            <a:avLst>
              <a:gd fmla="val 16667" name="adj"/>
            </a:avLst>
          </a:prstGeom>
          <a:solidFill>
            <a:srgbClr val="8B173E"/>
          </a:solidFill>
          <a:ln>
            <a:noFill/>
          </a:ln>
        </p:spPr>
        <p:txBody>
          <a:bodyPr anchorCtr="0" anchor="ctr" bIns="91400" lIns="91400" spcFirstLastPara="1" rIns="91400" wrap="square" tIns="91400">
            <a:noAutofit/>
          </a:bodyPr>
          <a:lstStyle/>
          <a:p>
            <a:pPr indent="0" lvl="0" marL="0" rtl="0" algn="ctr">
              <a:spcBef>
                <a:spcPts val="0"/>
              </a:spcBef>
              <a:spcAft>
                <a:spcPts val="0"/>
              </a:spcAft>
              <a:buNone/>
            </a:pPr>
            <a:r>
              <a:t/>
            </a:r>
            <a:endParaRPr i="0" sz="1000">
              <a:solidFill>
                <a:srgbClr val="FFFFFF"/>
              </a:solidFill>
              <a:latin typeface="Montserrat ExtraBold"/>
              <a:ea typeface="Montserrat ExtraBold"/>
              <a:cs typeface="Montserrat ExtraBold"/>
              <a:sym typeface="Montserrat ExtraBold"/>
            </a:endParaRPr>
          </a:p>
        </p:txBody>
      </p:sp>
      <p:sp>
        <p:nvSpPr>
          <p:cNvPr id="119" name="Google Shape;119;p17"/>
          <p:cNvSpPr txBox="1"/>
          <p:nvPr/>
        </p:nvSpPr>
        <p:spPr>
          <a:xfrm>
            <a:off x="189950" y="519825"/>
            <a:ext cx="8466300" cy="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Montserrat Medium"/>
                <a:ea typeface="Montserrat Medium"/>
                <a:cs typeface="Montserrat Medium"/>
                <a:sym typeface="Montserrat Medium"/>
              </a:rPr>
              <a:t>Finally, AI can help process all the data and speed up tasks for effective agile delivery. </a:t>
            </a:r>
            <a:endParaRPr sz="1500">
              <a:solidFill>
                <a:schemeClr val="dk2"/>
              </a:solidFill>
              <a:latin typeface="Montserrat Medium"/>
              <a:ea typeface="Montserrat Medium"/>
              <a:cs typeface="Montserrat Medium"/>
              <a:sym typeface="Montserrat Medium"/>
            </a:endParaRPr>
          </a:p>
        </p:txBody>
      </p:sp>
      <p:sp>
        <p:nvSpPr>
          <p:cNvPr id="120" name="Google Shape;120;p17"/>
          <p:cNvSpPr/>
          <p:nvPr/>
        </p:nvSpPr>
        <p:spPr>
          <a:xfrm>
            <a:off x="6417431" y="3901100"/>
            <a:ext cx="1253400" cy="550800"/>
          </a:xfrm>
          <a:prstGeom prst="roundRect">
            <a:avLst>
              <a:gd fmla="val 16667" name="adj"/>
            </a:avLst>
          </a:prstGeom>
          <a:solidFill>
            <a:srgbClr val="FFD966"/>
          </a:solidFill>
          <a:ln>
            <a:noFill/>
          </a:ln>
        </p:spPr>
        <p:txBody>
          <a:bodyPr anchorCtr="0" anchor="ctr" bIns="91400" lIns="91400" spcFirstLastPara="1" rIns="91400" wrap="square" tIns="91400">
            <a:noAutofit/>
          </a:bodyPr>
          <a:lstStyle/>
          <a:p>
            <a:pPr indent="0" lvl="0" marL="0" rtl="0" algn="ctr">
              <a:spcBef>
                <a:spcPts val="0"/>
              </a:spcBef>
              <a:spcAft>
                <a:spcPts val="0"/>
              </a:spcAft>
              <a:buNone/>
            </a:pPr>
            <a:r>
              <a:t/>
            </a:r>
            <a:endParaRPr i="0" sz="1000">
              <a:solidFill>
                <a:srgbClr val="FFFFFF"/>
              </a:solidFill>
              <a:latin typeface="Montserrat ExtraBold"/>
              <a:ea typeface="Montserrat ExtraBold"/>
              <a:cs typeface="Montserrat ExtraBold"/>
              <a:sym typeface="Montserrat ExtraBold"/>
            </a:endParaRPr>
          </a:p>
        </p:txBody>
      </p:sp>
      <p:cxnSp>
        <p:nvCxnSpPr>
          <p:cNvPr id="121" name="Google Shape;121;p17"/>
          <p:cNvCxnSpPr>
            <a:stCxn id="113" idx="3"/>
            <a:endCxn id="118" idx="1"/>
          </p:cNvCxnSpPr>
          <p:nvPr/>
        </p:nvCxnSpPr>
        <p:spPr>
          <a:xfrm>
            <a:off x="1663133" y="1503000"/>
            <a:ext cx="5582700" cy="0"/>
          </a:xfrm>
          <a:prstGeom prst="straightConnector1">
            <a:avLst/>
          </a:prstGeom>
          <a:noFill/>
          <a:ln cap="flat" cmpd="sng" w="114300">
            <a:solidFill>
              <a:srgbClr val="D9D9D9"/>
            </a:solidFill>
            <a:prstDash val="solid"/>
            <a:round/>
            <a:headEnd len="med" w="med" type="none"/>
            <a:tailEnd len="med" w="med" type="none"/>
          </a:ln>
        </p:spPr>
      </p:cxnSp>
      <p:sp>
        <p:nvSpPr>
          <p:cNvPr id="122" name="Google Shape;122;p17"/>
          <p:cNvSpPr/>
          <p:nvPr/>
        </p:nvSpPr>
        <p:spPr>
          <a:xfrm>
            <a:off x="6931915" y="1398406"/>
            <a:ext cx="364800" cy="215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3" name="Google Shape;123;p17"/>
          <p:cNvCxnSpPr>
            <a:stCxn id="112" idx="3"/>
          </p:cNvCxnSpPr>
          <p:nvPr/>
        </p:nvCxnSpPr>
        <p:spPr>
          <a:xfrm flipH="1" rot="10800000">
            <a:off x="3072955" y="1502697"/>
            <a:ext cx="2463900" cy="551100"/>
          </a:xfrm>
          <a:prstGeom prst="bentConnector3">
            <a:avLst>
              <a:gd fmla="val 50000" name="adj1"/>
            </a:avLst>
          </a:prstGeom>
          <a:noFill/>
          <a:ln cap="flat" cmpd="sng" w="114300">
            <a:solidFill>
              <a:srgbClr val="D9D9D9"/>
            </a:solidFill>
            <a:prstDash val="solid"/>
            <a:round/>
            <a:headEnd len="med" w="med" type="none"/>
            <a:tailEnd len="med" w="med" type="none"/>
          </a:ln>
        </p:spPr>
      </p:cxnSp>
      <p:cxnSp>
        <p:nvCxnSpPr>
          <p:cNvPr id="124" name="Google Shape;124;p17"/>
          <p:cNvCxnSpPr>
            <a:stCxn id="111" idx="3"/>
          </p:cNvCxnSpPr>
          <p:nvPr/>
        </p:nvCxnSpPr>
        <p:spPr>
          <a:xfrm flipH="1" rot="10800000">
            <a:off x="4485362" y="1503047"/>
            <a:ext cx="1581000" cy="1111500"/>
          </a:xfrm>
          <a:prstGeom prst="bentConnector3">
            <a:avLst>
              <a:gd fmla="val 50000" name="adj1"/>
            </a:avLst>
          </a:prstGeom>
          <a:noFill/>
          <a:ln cap="flat" cmpd="sng" w="114300">
            <a:solidFill>
              <a:srgbClr val="D9D9D9"/>
            </a:solidFill>
            <a:prstDash val="solid"/>
            <a:round/>
            <a:headEnd len="med" w="med" type="none"/>
            <a:tailEnd len="med" w="med" type="none"/>
          </a:ln>
        </p:spPr>
      </p:cxnSp>
      <p:cxnSp>
        <p:nvCxnSpPr>
          <p:cNvPr id="125" name="Google Shape;125;p17"/>
          <p:cNvCxnSpPr>
            <a:stCxn id="110" idx="3"/>
          </p:cNvCxnSpPr>
          <p:nvPr/>
        </p:nvCxnSpPr>
        <p:spPr>
          <a:xfrm flipH="1" rot="10800000">
            <a:off x="5897759" y="1538070"/>
            <a:ext cx="491400" cy="1624800"/>
          </a:xfrm>
          <a:prstGeom prst="bentConnector2">
            <a:avLst/>
          </a:prstGeom>
          <a:noFill/>
          <a:ln cap="flat" cmpd="sng" w="114300">
            <a:solidFill>
              <a:srgbClr val="D9D9D9"/>
            </a:solidFill>
            <a:prstDash val="solid"/>
            <a:round/>
            <a:headEnd len="med" w="med" type="none"/>
            <a:tailEnd len="med" w="med" type="none"/>
          </a:ln>
        </p:spPr>
      </p:cxnSp>
      <p:cxnSp>
        <p:nvCxnSpPr>
          <p:cNvPr id="126" name="Google Shape;126;p17"/>
          <p:cNvCxnSpPr>
            <a:stCxn id="114" idx="0"/>
            <a:endCxn id="118" idx="3"/>
          </p:cNvCxnSpPr>
          <p:nvPr/>
        </p:nvCxnSpPr>
        <p:spPr>
          <a:xfrm rot="-5400000">
            <a:off x="3568718" y="-1188400"/>
            <a:ext cx="2398200" cy="7780800"/>
          </a:xfrm>
          <a:prstGeom prst="bentConnector4">
            <a:avLst>
              <a:gd fmla="val 10137" name="adj1"/>
              <a:gd fmla="val 103059" name="adj2"/>
            </a:avLst>
          </a:prstGeom>
          <a:noFill/>
          <a:ln cap="flat" cmpd="sng" w="114300">
            <a:solidFill>
              <a:srgbClr val="D9D9D9"/>
            </a:solidFill>
            <a:prstDash val="solid"/>
            <a:round/>
            <a:headEnd len="med" w="med" type="none"/>
            <a:tailEnd len="med" w="med" type="none"/>
          </a:ln>
        </p:spPr>
      </p:cxnSp>
      <p:sp>
        <p:nvSpPr>
          <p:cNvPr id="127" name="Google Shape;127;p17"/>
          <p:cNvSpPr/>
          <p:nvPr/>
        </p:nvSpPr>
        <p:spPr>
          <a:xfrm>
            <a:off x="4596407" y="4054136"/>
            <a:ext cx="364800" cy="215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8" name="Google Shape;128;p17"/>
          <p:cNvSpPr/>
          <p:nvPr/>
        </p:nvSpPr>
        <p:spPr>
          <a:xfrm>
            <a:off x="6160623" y="4054125"/>
            <a:ext cx="311400" cy="215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9" name="Google Shape;129;p17"/>
          <p:cNvSpPr/>
          <p:nvPr/>
        </p:nvSpPr>
        <p:spPr>
          <a:xfrm>
            <a:off x="7670849" y="4054125"/>
            <a:ext cx="244800" cy="215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0" name="Google Shape;130;p17"/>
          <p:cNvSpPr txBox="1"/>
          <p:nvPr/>
        </p:nvSpPr>
        <p:spPr>
          <a:xfrm>
            <a:off x="251400" y="1694925"/>
            <a:ext cx="1412400" cy="2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999999"/>
                </a:solidFill>
                <a:latin typeface="Montserrat Medium"/>
                <a:ea typeface="Montserrat Medium"/>
                <a:cs typeface="Montserrat Medium"/>
                <a:sym typeface="Montserrat Medium"/>
              </a:rPr>
              <a:t>AI can draft strategy</a:t>
            </a:r>
            <a:endParaRPr sz="700">
              <a:solidFill>
                <a:srgbClr val="999999"/>
              </a:solidFill>
              <a:latin typeface="Montserrat Medium"/>
              <a:ea typeface="Montserrat Medium"/>
              <a:cs typeface="Montserrat Medium"/>
              <a:sym typeface="Montserrat Medium"/>
            </a:endParaRPr>
          </a:p>
        </p:txBody>
      </p:sp>
      <p:sp>
        <p:nvSpPr>
          <p:cNvPr id="131" name="Google Shape;131;p17"/>
          <p:cNvSpPr txBox="1"/>
          <p:nvPr/>
        </p:nvSpPr>
        <p:spPr>
          <a:xfrm>
            <a:off x="1661000" y="2248375"/>
            <a:ext cx="1412400" cy="2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999999"/>
                </a:solidFill>
                <a:latin typeface="Montserrat Medium"/>
                <a:ea typeface="Montserrat Medium"/>
                <a:cs typeface="Montserrat Medium"/>
                <a:sym typeface="Montserrat Medium"/>
              </a:rPr>
              <a:t>AI can explain metric changes</a:t>
            </a:r>
            <a:endParaRPr sz="600">
              <a:solidFill>
                <a:srgbClr val="999999"/>
              </a:solidFill>
              <a:latin typeface="Montserrat Medium"/>
              <a:ea typeface="Montserrat Medium"/>
              <a:cs typeface="Montserrat Medium"/>
              <a:sym typeface="Montserrat Medium"/>
            </a:endParaRPr>
          </a:p>
        </p:txBody>
      </p:sp>
      <p:sp>
        <p:nvSpPr>
          <p:cNvPr id="132" name="Google Shape;132;p17"/>
          <p:cNvSpPr txBox="1"/>
          <p:nvPr/>
        </p:nvSpPr>
        <p:spPr>
          <a:xfrm>
            <a:off x="3072950" y="2798850"/>
            <a:ext cx="1412400" cy="2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999999"/>
                </a:solidFill>
                <a:latin typeface="Montserrat Medium"/>
                <a:ea typeface="Montserrat Medium"/>
                <a:cs typeface="Montserrat Medium"/>
                <a:sym typeface="Montserrat Medium"/>
              </a:rPr>
              <a:t>AI can draw themes</a:t>
            </a:r>
            <a:endParaRPr sz="700">
              <a:solidFill>
                <a:srgbClr val="999999"/>
              </a:solidFill>
              <a:latin typeface="Montserrat Medium"/>
              <a:ea typeface="Montserrat Medium"/>
              <a:cs typeface="Montserrat Medium"/>
              <a:sym typeface="Montserrat Medium"/>
            </a:endParaRPr>
          </a:p>
        </p:txBody>
      </p:sp>
      <p:sp>
        <p:nvSpPr>
          <p:cNvPr id="133" name="Google Shape;133;p17"/>
          <p:cNvSpPr txBox="1"/>
          <p:nvPr/>
        </p:nvSpPr>
        <p:spPr>
          <a:xfrm>
            <a:off x="4402000" y="3349516"/>
            <a:ext cx="1578600" cy="2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999999"/>
                </a:solidFill>
                <a:latin typeface="Montserrat Medium"/>
                <a:ea typeface="Montserrat Medium"/>
                <a:cs typeface="Montserrat Medium"/>
                <a:sym typeface="Montserrat Medium"/>
              </a:rPr>
              <a:t>AI can pinpoint root causes</a:t>
            </a:r>
            <a:endParaRPr sz="700">
              <a:solidFill>
                <a:srgbClr val="999999"/>
              </a:solidFill>
              <a:latin typeface="Montserrat Medium"/>
              <a:ea typeface="Montserrat Medium"/>
              <a:cs typeface="Montserrat Medium"/>
              <a:sym typeface="Montserrat Medium"/>
            </a:endParaRPr>
          </a:p>
        </p:txBody>
      </p:sp>
      <p:sp>
        <p:nvSpPr>
          <p:cNvPr id="134" name="Google Shape;134;p17"/>
          <p:cNvSpPr txBox="1"/>
          <p:nvPr/>
        </p:nvSpPr>
        <p:spPr>
          <a:xfrm>
            <a:off x="7162625" y="1694918"/>
            <a:ext cx="1578600" cy="2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999999"/>
                </a:solidFill>
                <a:latin typeface="Montserrat Medium"/>
                <a:ea typeface="Montserrat Medium"/>
                <a:cs typeface="Montserrat Medium"/>
                <a:sym typeface="Montserrat Medium"/>
              </a:rPr>
              <a:t>AI can score and prioritize</a:t>
            </a:r>
            <a:endParaRPr sz="700">
              <a:solidFill>
                <a:srgbClr val="999999"/>
              </a:solidFill>
              <a:latin typeface="Montserrat Medium"/>
              <a:ea typeface="Montserrat Medium"/>
              <a:cs typeface="Montserrat Medium"/>
              <a:sym typeface="Montserrat Medium"/>
            </a:endParaRPr>
          </a:p>
        </p:txBody>
      </p:sp>
      <p:sp>
        <p:nvSpPr>
          <p:cNvPr id="135" name="Google Shape;135;p17"/>
          <p:cNvSpPr txBox="1"/>
          <p:nvPr/>
        </p:nvSpPr>
        <p:spPr>
          <a:xfrm>
            <a:off x="250750" y="4366608"/>
            <a:ext cx="1253400" cy="2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999999"/>
                </a:solidFill>
                <a:latin typeface="Montserrat Medium"/>
                <a:ea typeface="Montserrat Medium"/>
                <a:cs typeface="Montserrat Medium"/>
                <a:sym typeface="Montserrat Medium"/>
              </a:rPr>
              <a:t>AI can draft tickets</a:t>
            </a:r>
            <a:endParaRPr sz="700">
              <a:solidFill>
                <a:srgbClr val="999999"/>
              </a:solidFill>
              <a:latin typeface="Montserrat Medium"/>
              <a:ea typeface="Montserrat Medium"/>
              <a:cs typeface="Montserrat Medium"/>
              <a:sym typeface="Montserrat Medium"/>
            </a:endParaRPr>
          </a:p>
        </p:txBody>
      </p:sp>
      <p:sp>
        <p:nvSpPr>
          <p:cNvPr id="136" name="Google Shape;136;p17"/>
          <p:cNvSpPr txBox="1"/>
          <p:nvPr/>
        </p:nvSpPr>
        <p:spPr>
          <a:xfrm>
            <a:off x="3343125" y="4356475"/>
            <a:ext cx="1253400" cy="2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999999"/>
                </a:solidFill>
                <a:latin typeface="Montserrat Medium"/>
                <a:ea typeface="Montserrat Medium"/>
                <a:cs typeface="Montserrat Medium"/>
                <a:sym typeface="Montserrat Medium"/>
              </a:rPr>
              <a:t>AI can generate code</a:t>
            </a:r>
            <a:endParaRPr sz="700">
              <a:solidFill>
                <a:srgbClr val="999999"/>
              </a:solidFill>
              <a:latin typeface="Montserrat Medium"/>
              <a:ea typeface="Montserrat Medium"/>
              <a:cs typeface="Montserrat Medium"/>
              <a:sym typeface="Montserrat Medium"/>
            </a:endParaRPr>
          </a:p>
        </p:txBody>
      </p:sp>
      <p:sp>
        <p:nvSpPr>
          <p:cNvPr id="137" name="Google Shape;137;p17"/>
          <p:cNvSpPr txBox="1"/>
          <p:nvPr/>
        </p:nvSpPr>
        <p:spPr>
          <a:xfrm>
            <a:off x="4903999" y="4361190"/>
            <a:ext cx="1253400" cy="2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999999"/>
                </a:solidFill>
                <a:latin typeface="Montserrat Medium"/>
                <a:ea typeface="Montserrat Medium"/>
                <a:cs typeface="Montserrat Medium"/>
                <a:sym typeface="Montserrat Medium"/>
              </a:rPr>
              <a:t>AI can fix pipelines</a:t>
            </a:r>
            <a:endParaRPr sz="700">
              <a:solidFill>
                <a:srgbClr val="999999"/>
              </a:solidFill>
              <a:latin typeface="Montserrat Medium"/>
              <a:ea typeface="Montserrat Medium"/>
              <a:cs typeface="Montserrat Medium"/>
              <a:sym typeface="Montserrat Medium"/>
            </a:endParaRPr>
          </a:p>
        </p:txBody>
      </p:sp>
      <p:sp>
        <p:nvSpPr>
          <p:cNvPr id="138" name="Google Shape;138;p17"/>
          <p:cNvSpPr txBox="1"/>
          <p:nvPr/>
        </p:nvSpPr>
        <p:spPr>
          <a:xfrm>
            <a:off x="6417450" y="4356475"/>
            <a:ext cx="1253400" cy="2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999999"/>
                </a:solidFill>
                <a:latin typeface="Montserrat Medium"/>
                <a:ea typeface="Montserrat Medium"/>
                <a:cs typeface="Montserrat Medium"/>
                <a:sym typeface="Montserrat Medium"/>
              </a:rPr>
              <a:t>AI can generate tests</a:t>
            </a:r>
            <a:endParaRPr sz="700">
              <a:solidFill>
                <a:srgbClr val="999999"/>
              </a:solidFill>
              <a:latin typeface="Montserrat Medium"/>
              <a:ea typeface="Montserrat Medium"/>
              <a:cs typeface="Montserrat Medium"/>
              <a:sym typeface="Montserrat Medium"/>
            </a:endParaRPr>
          </a:p>
        </p:txBody>
      </p:sp>
      <p:cxnSp>
        <p:nvCxnSpPr>
          <p:cNvPr id="139" name="Google Shape;139;p17"/>
          <p:cNvCxnSpPr>
            <a:stCxn id="120" idx="0"/>
          </p:cNvCxnSpPr>
          <p:nvPr/>
        </p:nvCxnSpPr>
        <p:spPr>
          <a:xfrm flipH="1" rot="5400000">
            <a:off x="5780081" y="2637050"/>
            <a:ext cx="2343000" cy="185100"/>
          </a:xfrm>
          <a:prstGeom prst="bentConnector3">
            <a:avLst>
              <a:gd fmla="val 50000" name="adj1"/>
            </a:avLst>
          </a:prstGeom>
          <a:noFill/>
          <a:ln cap="flat" cmpd="sng" w="114300">
            <a:solidFill>
              <a:srgbClr val="F3F3F3"/>
            </a:solidFill>
            <a:prstDash val="solid"/>
            <a:round/>
            <a:headEnd len="med" w="med" type="none"/>
            <a:tailEnd len="med" w="med" type="none"/>
          </a:ln>
        </p:spPr>
      </p:cxnSp>
      <p:sp>
        <p:nvSpPr>
          <p:cNvPr id="140" name="Google Shape;140;p17"/>
          <p:cNvSpPr txBox="1"/>
          <p:nvPr/>
        </p:nvSpPr>
        <p:spPr>
          <a:xfrm>
            <a:off x="176072" y="1608425"/>
            <a:ext cx="1487100" cy="215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500">
                <a:solidFill>
                  <a:srgbClr val="EFEFEF"/>
                </a:solidFill>
                <a:latin typeface="Montserrat Medium"/>
                <a:ea typeface="Montserrat Medium"/>
                <a:cs typeface="Montserrat Medium"/>
                <a:sym typeface="Montserrat Medium"/>
              </a:rPr>
              <a:t>WorkBoard, Cascade, Profit.co</a:t>
            </a:r>
            <a:endParaRPr i="1" sz="500">
              <a:solidFill>
                <a:srgbClr val="EFEFEF"/>
              </a:solidFill>
              <a:latin typeface="Montserrat Medium"/>
              <a:ea typeface="Montserrat Medium"/>
              <a:cs typeface="Montserrat Medium"/>
              <a:sym typeface="Montserrat Medium"/>
            </a:endParaRPr>
          </a:p>
        </p:txBody>
      </p:sp>
      <p:sp>
        <p:nvSpPr>
          <p:cNvPr id="141" name="Google Shape;141;p17"/>
          <p:cNvSpPr txBox="1"/>
          <p:nvPr/>
        </p:nvSpPr>
        <p:spPr>
          <a:xfrm>
            <a:off x="1603865" y="2158239"/>
            <a:ext cx="1487100" cy="215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500">
                <a:solidFill>
                  <a:srgbClr val="EFEFEF"/>
                </a:solidFill>
                <a:latin typeface="Montserrat Medium"/>
                <a:ea typeface="Montserrat Medium"/>
                <a:cs typeface="Montserrat Medium"/>
                <a:sym typeface="Montserrat Medium"/>
              </a:rPr>
              <a:t>Amplitude, </a:t>
            </a:r>
            <a:r>
              <a:rPr i="1" lang="en" sz="500">
                <a:solidFill>
                  <a:srgbClr val="EFEFEF"/>
                </a:solidFill>
                <a:latin typeface="Montserrat Medium"/>
                <a:ea typeface="Montserrat Medium"/>
                <a:cs typeface="Montserrat Medium"/>
                <a:sym typeface="Montserrat Medium"/>
              </a:rPr>
              <a:t>Mixpanel, Pendo</a:t>
            </a:r>
            <a:endParaRPr i="1" sz="500">
              <a:solidFill>
                <a:srgbClr val="EFEFEF"/>
              </a:solidFill>
              <a:latin typeface="Montserrat Medium"/>
              <a:ea typeface="Montserrat Medium"/>
              <a:cs typeface="Montserrat Medium"/>
              <a:sym typeface="Montserrat Medium"/>
            </a:endParaRPr>
          </a:p>
        </p:txBody>
      </p:sp>
      <p:sp>
        <p:nvSpPr>
          <p:cNvPr id="142" name="Google Shape;142;p17"/>
          <p:cNvSpPr txBox="1"/>
          <p:nvPr/>
        </p:nvSpPr>
        <p:spPr>
          <a:xfrm>
            <a:off x="3042651" y="2709468"/>
            <a:ext cx="1487100" cy="215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500">
                <a:solidFill>
                  <a:srgbClr val="EFEFEF"/>
                </a:solidFill>
                <a:latin typeface="Montserrat Medium"/>
                <a:ea typeface="Montserrat Medium"/>
                <a:cs typeface="Montserrat Medium"/>
                <a:sym typeface="Montserrat Medium"/>
              </a:rPr>
              <a:t>Productboard, E</a:t>
            </a:r>
            <a:r>
              <a:rPr i="1" lang="en" sz="500">
                <a:solidFill>
                  <a:srgbClr val="EFEFEF"/>
                </a:solidFill>
                <a:latin typeface="Montserrat Medium"/>
                <a:ea typeface="Montserrat Medium"/>
                <a:cs typeface="Montserrat Medium"/>
                <a:sym typeface="Montserrat Medium"/>
              </a:rPr>
              <a:t>nterpret</a:t>
            </a:r>
            <a:r>
              <a:rPr i="1" lang="en" sz="500">
                <a:solidFill>
                  <a:srgbClr val="EFEFEF"/>
                </a:solidFill>
                <a:latin typeface="Montserrat Medium"/>
                <a:ea typeface="Montserrat Medium"/>
                <a:cs typeface="Montserrat Medium"/>
                <a:sym typeface="Montserrat Medium"/>
              </a:rPr>
              <a:t>, Canny</a:t>
            </a:r>
            <a:endParaRPr i="1" sz="500">
              <a:solidFill>
                <a:srgbClr val="EFEFEF"/>
              </a:solidFill>
              <a:latin typeface="Montserrat Medium"/>
              <a:ea typeface="Montserrat Medium"/>
              <a:cs typeface="Montserrat Medium"/>
              <a:sym typeface="Montserrat Medium"/>
            </a:endParaRPr>
          </a:p>
        </p:txBody>
      </p:sp>
      <p:sp>
        <p:nvSpPr>
          <p:cNvPr id="143" name="Google Shape;143;p17"/>
          <p:cNvSpPr txBox="1"/>
          <p:nvPr/>
        </p:nvSpPr>
        <p:spPr>
          <a:xfrm>
            <a:off x="4447756" y="3264342"/>
            <a:ext cx="1487100" cy="215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500">
                <a:solidFill>
                  <a:srgbClr val="EFEFEF"/>
                </a:solidFill>
                <a:latin typeface="Montserrat Medium"/>
                <a:ea typeface="Montserrat Medium"/>
                <a:cs typeface="Montserrat Medium"/>
                <a:sym typeface="Montserrat Medium"/>
              </a:rPr>
              <a:t>Sentry, Datadog, Dynatrace</a:t>
            </a:r>
            <a:endParaRPr i="1" sz="500">
              <a:solidFill>
                <a:srgbClr val="EFEFEF"/>
              </a:solidFill>
              <a:latin typeface="Montserrat Medium"/>
              <a:ea typeface="Montserrat Medium"/>
              <a:cs typeface="Montserrat Medium"/>
              <a:sym typeface="Montserrat Medium"/>
            </a:endParaRPr>
          </a:p>
        </p:txBody>
      </p:sp>
      <p:sp>
        <p:nvSpPr>
          <p:cNvPr id="144" name="Google Shape;144;p17"/>
          <p:cNvSpPr txBox="1"/>
          <p:nvPr/>
        </p:nvSpPr>
        <p:spPr>
          <a:xfrm>
            <a:off x="7171225" y="1608423"/>
            <a:ext cx="1487100" cy="215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500">
                <a:solidFill>
                  <a:srgbClr val="EFEFEF"/>
                </a:solidFill>
                <a:latin typeface="Montserrat Medium"/>
                <a:ea typeface="Montserrat Medium"/>
                <a:cs typeface="Montserrat Medium"/>
                <a:sym typeface="Montserrat Medium"/>
              </a:rPr>
              <a:t>Jira PD, Aha!, airfocus</a:t>
            </a:r>
            <a:endParaRPr i="1" sz="500">
              <a:solidFill>
                <a:srgbClr val="EFEFEF"/>
              </a:solidFill>
              <a:latin typeface="Montserrat Medium"/>
              <a:ea typeface="Montserrat Medium"/>
              <a:cs typeface="Montserrat Medium"/>
              <a:sym typeface="Montserrat Medium"/>
            </a:endParaRPr>
          </a:p>
        </p:txBody>
      </p:sp>
      <p:sp>
        <p:nvSpPr>
          <p:cNvPr id="145" name="Google Shape;145;p17"/>
          <p:cNvSpPr txBox="1"/>
          <p:nvPr/>
        </p:nvSpPr>
        <p:spPr>
          <a:xfrm>
            <a:off x="3139739" y="4269531"/>
            <a:ext cx="1487100" cy="215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500">
                <a:solidFill>
                  <a:srgbClr val="EFEFEF"/>
                </a:solidFill>
                <a:latin typeface="Montserrat Medium"/>
                <a:ea typeface="Montserrat Medium"/>
                <a:cs typeface="Montserrat Medium"/>
                <a:sym typeface="Montserrat Medium"/>
              </a:rPr>
              <a:t>Claude Code, Copilot, Cursor</a:t>
            </a:r>
            <a:endParaRPr i="1" sz="500">
              <a:solidFill>
                <a:srgbClr val="EFEFEF"/>
              </a:solidFill>
              <a:latin typeface="Montserrat Medium"/>
              <a:ea typeface="Montserrat Medium"/>
              <a:cs typeface="Montserrat Medium"/>
              <a:sym typeface="Montserrat Medium"/>
            </a:endParaRPr>
          </a:p>
        </p:txBody>
      </p:sp>
      <p:sp>
        <p:nvSpPr>
          <p:cNvPr id="146" name="Google Shape;146;p17"/>
          <p:cNvSpPr txBox="1"/>
          <p:nvPr/>
        </p:nvSpPr>
        <p:spPr>
          <a:xfrm>
            <a:off x="60219" y="4267114"/>
            <a:ext cx="1487100" cy="215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500">
                <a:solidFill>
                  <a:srgbClr val="EFEFEF"/>
                </a:solidFill>
                <a:latin typeface="Montserrat Medium"/>
                <a:ea typeface="Montserrat Medium"/>
                <a:cs typeface="Montserrat Medium"/>
                <a:sym typeface="Montserrat Medium"/>
              </a:rPr>
              <a:t>Jira, Azure DevOps, Linear</a:t>
            </a:r>
            <a:endParaRPr i="1" sz="500">
              <a:solidFill>
                <a:srgbClr val="EFEFEF"/>
              </a:solidFill>
              <a:latin typeface="Montserrat Medium"/>
              <a:ea typeface="Montserrat Medium"/>
              <a:cs typeface="Montserrat Medium"/>
              <a:sym typeface="Montserrat Medium"/>
            </a:endParaRPr>
          </a:p>
        </p:txBody>
      </p:sp>
      <p:sp>
        <p:nvSpPr>
          <p:cNvPr id="147" name="Google Shape;147;p17"/>
          <p:cNvSpPr txBox="1"/>
          <p:nvPr/>
        </p:nvSpPr>
        <p:spPr>
          <a:xfrm>
            <a:off x="4704705" y="4271949"/>
            <a:ext cx="1487100" cy="215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500">
                <a:solidFill>
                  <a:srgbClr val="EFEFEF"/>
                </a:solidFill>
                <a:latin typeface="Montserrat Medium"/>
                <a:ea typeface="Montserrat Medium"/>
                <a:cs typeface="Montserrat Medium"/>
                <a:sym typeface="Montserrat Medium"/>
              </a:rPr>
              <a:t>GitHub Actions, GitLab CI</a:t>
            </a:r>
            <a:endParaRPr i="1" sz="500">
              <a:solidFill>
                <a:srgbClr val="EFEFEF"/>
              </a:solidFill>
              <a:latin typeface="Montserrat Medium"/>
              <a:ea typeface="Montserrat Medium"/>
              <a:cs typeface="Montserrat Medium"/>
              <a:sym typeface="Montserrat Medium"/>
            </a:endParaRPr>
          </a:p>
        </p:txBody>
      </p:sp>
      <p:sp>
        <p:nvSpPr>
          <p:cNvPr id="148" name="Google Shape;148;p17"/>
          <p:cNvSpPr txBox="1"/>
          <p:nvPr/>
        </p:nvSpPr>
        <p:spPr>
          <a:xfrm>
            <a:off x="6211408" y="4271961"/>
            <a:ext cx="1487100" cy="215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500">
                <a:solidFill>
                  <a:srgbClr val="EFEFEF"/>
                </a:solidFill>
                <a:latin typeface="Montserrat Medium"/>
                <a:ea typeface="Montserrat Medium"/>
                <a:cs typeface="Montserrat Medium"/>
                <a:sym typeface="Montserrat Medium"/>
              </a:rPr>
              <a:t>Playwright, SonarQube, Mabl</a:t>
            </a:r>
            <a:endParaRPr i="1" sz="500">
              <a:solidFill>
                <a:srgbClr val="EFEFEF"/>
              </a:solidFill>
              <a:latin typeface="Montserrat Medium"/>
              <a:ea typeface="Montserrat Medium"/>
              <a:cs typeface="Montserrat Medium"/>
              <a:sym typeface="Montserrat Medium"/>
            </a:endParaRPr>
          </a:p>
        </p:txBody>
      </p:sp>
      <p:sp>
        <p:nvSpPr>
          <p:cNvPr id="149" name="Google Shape;149;p17"/>
          <p:cNvSpPr/>
          <p:nvPr/>
        </p:nvSpPr>
        <p:spPr>
          <a:xfrm>
            <a:off x="1797165" y="3900575"/>
            <a:ext cx="1253400" cy="550800"/>
          </a:xfrm>
          <a:prstGeom prst="roundRect">
            <a:avLst>
              <a:gd fmla="val 16667" name="adj"/>
            </a:avLst>
          </a:prstGeom>
          <a:solidFill>
            <a:schemeClr val="dk1"/>
          </a:solidFill>
          <a:ln>
            <a:noFill/>
          </a:ln>
        </p:spPr>
        <p:txBody>
          <a:bodyPr anchorCtr="0" anchor="ctr" bIns="91400" lIns="91400" spcFirstLastPara="1" rIns="91400" wrap="square" tIns="91400">
            <a:noAutofit/>
          </a:bodyPr>
          <a:lstStyle/>
          <a:p>
            <a:pPr indent="0" lvl="0" marL="0" rtl="0" algn="ctr">
              <a:spcBef>
                <a:spcPts val="0"/>
              </a:spcBef>
              <a:spcAft>
                <a:spcPts val="0"/>
              </a:spcAft>
              <a:buNone/>
            </a:pPr>
            <a:r>
              <a:t/>
            </a:r>
            <a:endParaRPr i="0" sz="1000">
              <a:solidFill>
                <a:srgbClr val="FFFFFF"/>
              </a:solidFill>
              <a:latin typeface="Montserrat ExtraBold"/>
              <a:ea typeface="Montserrat ExtraBold"/>
              <a:cs typeface="Montserrat ExtraBold"/>
              <a:sym typeface="Montserrat ExtraBold"/>
            </a:endParaRPr>
          </a:p>
        </p:txBody>
      </p:sp>
      <p:sp>
        <p:nvSpPr>
          <p:cNvPr id="150" name="Google Shape;150;p17"/>
          <p:cNvSpPr/>
          <p:nvPr/>
        </p:nvSpPr>
        <p:spPr>
          <a:xfrm>
            <a:off x="3049885" y="4068811"/>
            <a:ext cx="364800" cy="215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1" name="Google Shape;151;p17"/>
          <p:cNvSpPr/>
          <p:nvPr/>
        </p:nvSpPr>
        <p:spPr>
          <a:xfrm>
            <a:off x="1503360" y="4068811"/>
            <a:ext cx="364800" cy="2154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2" name="Google Shape;152;p17"/>
          <p:cNvSpPr txBox="1"/>
          <p:nvPr/>
        </p:nvSpPr>
        <p:spPr>
          <a:xfrm>
            <a:off x="1704963" y="4370841"/>
            <a:ext cx="1434600" cy="2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999999"/>
                </a:solidFill>
                <a:latin typeface="Montserrat Medium"/>
                <a:ea typeface="Montserrat Medium"/>
                <a:cs typeface="Montserrat Medium"/>
                <a:sym typeface="Montserrat Medium"/>
              </a:rPr>
              <a:t>AI can design from prompts</a:t>
            </a:r>
            <a:endParaRPr sz="600">
              <a:solidFill>
                <a:srgbClr val="999999"/>
              </a:solidFill>
              <a:latin typeface="Montserrat Medium"/>
              <a:ea typeface="Montserrat Medium"/>
              <a:cs typeface="Montserrat Medium"/>
              <a:sym typeface="Montserrat Medium"/>
            </a:endParaRPr>
          </a:p>
        </p:txBody>
      </p:sp>
      <p:sp>
        <p:nvSpPr>
          <p:cNvPr id="153" name="Google Shape;153;p17"/>
          <p:cNvSpPr txBox="1"/>
          <p:nvPr/>
        </p:nvSpPr>
        <p:spPr>
          <a:xfrm>
            <a:off x="1599977" y="4266905"/>
            <a:ext cx="1487100" cy="215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500">
                <a:solidFill>
                  <a:srgbClr val="EFEFEF"/>
                </a:solidFill>
                <a:latin typeface="Montserrat Medium"/>
                <a:ea typeface="Montserrat Medium"/>
                <a:cs typeface="Montserrat Medium"/>
                <a:sym typeface="Montserrat Medium"/>
              </a:rPr>
              <a:t>Figma, Lovable, Bolt</a:t>
            </a:r>
            <a:endParaRPr i="1" sz="500">
              <a:solidFill>
                <a:srgbClr val="EFEFEF"/>
              </a:solidFill>
              <a:latin typeface="Montserrat Medium"/>
              <a:ea typeface="Montserrat Medium"/>
              <a:cs typeface="Montserrat Medium"/>
              <a:sym typeface="Montserrat Medium"/>
            </a:endParaRPr>
          </a:p>
        </p:txBody>
      </p:sp>
      <p:pic>
        <p:nvPicPr>
          <p:cNvPr id="154" name="Google Shape;154;p17"/>
          <p:cNvPicPr preferRelativeResize="0"/>
          <p:nvPr/>
        </p:nvPicPr>
        <p:blipFill>
          <a:blip r:embed="rId3">
            <a:alphaModFix/>
          </a:blip>
          <a:stretch>
            <a:fillRect/>
          </a:stretch>
        </p:blipFill>
        <p:spPr>
          <a:xfrm>
            <a:off x="835200" y="1227600"/>
            <a:ext cx="244800" cy="244800"/>
          </a:xfrm>
          <a:prstGeom prst="rect">
            <a:avLst/>
          </a:prstGeom>
          <a:solidFill>
            <a:schemeClr val="accent2"/>
          </a:solidFill>
          <a:ln>
            <a:noFill/>
          </a:ln>
        </p:spPr>
      </p:pic>
      <p:sp>
        <p:nvSpPr>
          <p:cNvPr id="155" name="Google Shape;155;p17"/>
          <p:cNvSpPr txBox="1"/>
          <p:nvPr/>
        </p:nvSpPr>
        <p:spPr>
          <a:xfrm>
            <a:off x="243150" y="1387925"/>
            <a:ext cx="1434600" cy="17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sz="1000">
                <a:solidFill>
                  <a:schemeClr val="lt1"/>
                </a:solidFill>
                <a:latin typeface="Montserrat ExtraBold"/>
                <a:ea typeface="Montserrat ExtraBold"/>
                <a:cs typeface="Montserrat ExtraBold"/>
                <a:sym typeface="Montserrat ExtraBold"/>
              </a:rPr>
              <a:t>Business Drivers</a:t>
            </a:r>
            <a:endParaRPr sz="10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156" name="Google Shape;156;p17"/>
          <p:cNvPicPr preferRelativeResize="0"/>
          <p:nvPr/>
        </p:nvPicPr>
        <p:blipFill>
          <a:blip r:embed="rId4">
            <a:alphaModFix/>
          </a:blip>
          <a:stretch>
            <a:fillRect/>
          </a:stretch>
        </p:blipFill>
        <p:spPr>
          <a:xfrm>
            <a:off x="2225025" y="1766730"/>
            <a:ext cx="244800" cy="244800"/>
          </a:xfrm>
          <a:prstGeom prst="rect">
            <a:avLst/>
          </a:prstGeom>
          <a:noFill/>
          <a:ln>
            <a:noFill/>
          </a:ln>
        </p:spPr>
      </p:pic>
      <p:sp>
        <p:nvSpPr>
          <p:cNvPr id="157" name="Google Shape;157;p17"/>
          <p:cNvSpPr txBox="1"/>
          <p:nvPr/>
        </p:nvSpPr>
        <p:spPr>
          <a:xfrm>
            <a:off x="1658325" y="1920186"/>
            <a:ext cx="1412400" cy="12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Montserrat ExtraBold"/>
                <a:ea typeface="Montserrat ExtraBold"/>
                <a:cs typeface="Montserrat ExtraBold"/>
                <a:sym typeface="Montserrat ExtraBold"/>
              </a:rPr>
              <a:t>Usage Analytics</a:t>
            </a:r>
            <a:endParaRPr sz="1800">
              <a:solidFill>
                <a:schemeClr val="dk2"/>
              </a:solidFill>
              <a:latin typeface="Lato"/>
              <a:ea typeface="Lato"/>
              <a:cs typeface="Lato"/>
              <a:sym typeface="Lato"/>
            </a:endParaRPr>
          </a:p>
        </p:txBody>
      </p:sp>
      <p:pic>
        <p:nvPicPr>
          <p:cNvPr id="158" name="Google Shape;158;p17"/>
          <p:cNvPicPr preferRelativeResize="0"/>
          <p:nvPr/>
        </p:nvPicPr>
        <p:blipFill>
          <a:blip r:embed="rId5">
            <a:alphaModFix/>
          </a:blip>
          <a:stretch>
            <a:fillRect/>
          </a:stretch>
        </p:blipFill>
        <p:spPr>
          <a:xfrm>
            <a:off x="3673770" y="2346770"/>
            <a:ext cx="228774" cy="228774"/>
          </a:xfrm>
          <a:prstGeom prst="rect">
            <a:avLst/>
          </a:prstGeom>
          <a:noFill/>
          <a:ln>
            <a:noFill/>
          </a:ln>
        </p:spPr>
      </p:pic>
      <p:sp>
        <p:nvSpPr>
          <p:cNvPr id="159" name="Google Shape;159;p17"/>
          <p:cNvSpPr txBox="1"/>
          <p:nvPr/>
        </p:nvSpPr>
        <p:spPr>
          <a:xfrm>
            <a:off x="3076150" y="2489070"/>
            <a:ext cx="1409100" cy="17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Montserrat ExtraBold"/>
                <a:ea typeface="Montserrat ExtraBold"/>
                <a:cs typeface="Montserrat ExtraBold"/>
                <a:sym typeface="Montserrat ExtraBold"/>
              </a:rPr>
              <a:t>User Feedback</a:t>
            </a:r>
            <a:endParaRPr sz="1800">
              <a:solidFill>
                <a:schemeClr val="dk2"/>
              </a:solidFill>
              <a:latin typeface="Lato"/>
              <a:ea typeface="Lato"/>
              <a:cs typeface="Lato"/>
              <a:sym typeface="Lato"/>
            </a:endParaRPr>
          </a:p>
        </p:txBody>
      </p:sp>
      <p:sp>
        <p:nvSpPr>
          <p:cNvPr id="160" name="Google Shape;160;p17"/>
          <p:cNvSpPr txBox="1"/>
          <p:nvPr/>
        </p:nvSpPr>
        <p:spPr>
          <a:xfrm>
            <a:off x="4483775" y="3025620"/>
            <a:ext cx="1409100" cy="17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sz="1000">
                <a:solidFill>
                  <a:schemeClr val="lt1"/>
                </a:solidFill>
                <a:latin typeface="Montserrat ExtraBold"/>
                <a:ea typeface="Montserrat ExtraBold"/>
                <a:cs typeface="Montserrat ExtraBold"/>
                <a:sym typeface="Montserrat ExtraBold"/>
              </a:rPr>
              <a:t>System</a:t>
            </a:r>
            <a:r>
              <a:rPr lang="en" sz="1000">
                <a:solidFill>
                  <a:schemeClr val="lt1"/>
                </a:solidFill>
                <a:latin typeface="Montserrat ExtraBold"/>
                <a:ea typeface="Montserrat ExtraBold"/>
                <a:cs typeface="Montserrat ExtraBold"/>
                <a:sym typeface="Montserrat ExtraBold"/>
              </a:rPr>
              <a:t> Logs</a:t>
            </a:r>
            <a:endParaRPr sz="10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161" name="Google Shape;161;p17"/>
          <p:cNvPicPr preferRelativeResize="0"/>
          <p:nvPr/>
        </p:nvPicPr>
        <p:blipFill>
          <a:blip r:embed="rId6">
            <a:alphaModFix/>
          </a:blip>
          <a:stretch>
            <a:fillRect/>
          </a:stretch>
        </p:blipFill>
        <p:spPr>
          <a:xfrm>
            <a:off x="5092711" y="2911553"/>
            <a:ext cx="197700" cy="197700"/>
          </a:xfrm>
          <a:prstGeom prst="rect">
            <a:avLst/>
          </a:prstGeom>
          <a:noFill/>
          <a:ln>
            <a:noFill/>
          </a:ln>
        </p:spPr>
      </p:pic>
      <p:pic>
        <p:nvPicPr>
          <p:cNvPr id="162" name="Google Shape;162;p17"/>
          <p:cNvPicPr preferRelativeResize="0"/>
          <p:nvPr/>
        </p:nvPicPr>
        <p:blipFill>
          <a:blip r:embed="rId7">
            <a:alphaModFix/>
          </a:blip>
          <a:stretch>
            <a:fillRect/>
          </a:stretch>
        </p:blipFill>
        <p:spPr>
          <a:xfrm>
            <a:off x="7853075" y="1227600"/>
            <a:ext cx="197700" cy="197722"/>
          </a:xfrm>
          <a:prstGeom prst="rect">
            <a:avLst/>
          </a:prstGeom>
          <a:noFill/>
          <a:ln>
            <a:noFill/>
          </a:ln>
        </p:spPr>
      </p:pic>
      <p:sp>
        <p:nvSpPr>
          <p:cNvPr id="163" name="Google Shape;163;p17"/>
          <p:cNvSpPr txBox="1"/>
          <p:nvPr/>
        </p:nvSpPr>
        <p:spPr>
          <a:xfrm>
            <a:off x="7234625" y="1358650"/>
            <a:ext cx="1434600" cy="29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sz="1000">
                <a:solidFill>
                  <a:schemeClr val="lt1"/>
                </a:solidFill>
                <a:latin typeface="Montserrat ExtraBold"/>
                <a:ea typeface="Montserrat ExtraBold"/>
                <a:cs typeface="Montserrat ExtraBold"/>
                <a:sym typeface="Montserrat ExtraBold"/>
              </a:rPr>
              <a:t>Product Discovery</a:t>
            </a:r>
            <a:endParaRPr sz="10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164" name="Google Shape;164;p17"/>
          <p:cNvPicPr preferRelativeResize="0"/>
          <p:nvPr/>
        </p:nvPicPr>
        <p:blipFill>
          <a:blip r:embed="rId8">
            <a:alphaModFix/>
          </a:blip>
          <a:stretch>
            <a:fillRect/>
          </a:stretch>
        </p:blipFill>
        <p:spPr>
          <a:xfrm>
            <a:off x="789675" y="3919984"/>
            <a:ext cx="185100" cy="185100"/>
          </a:xfrm>
          <a:prstGeom prst="rect">
            <a:avLst/>
          </a:prstGeom>
          <a:noFill/>
          <a:ln>
            <a:noFill/>
          </a:ln>
        </p:spPr>
      </p:pic>
      <p:sp>
        <p:nvSpPr>
          <p:cNvPr id="165" name="Google Shape;165;p17"/>
          <p:cNvSpPr txBox="1"/>
          <p:nvPr/>
        </p:nvSpPr>
        <p:spPr>
          <a:xfrm>
            <a:off x="251225" y="4020410"/>
            <a:ext cx="1253400" cy="2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sz="1000">
                <a:solidFill>
                  <a:schemeClr val="lt1"/>
                </a:solidFill>
                <a:latin typeface="Montserrat ExtraBold"/>
                <a:ea typeface="Montserrat ExtraBold"/>
                <a:cs typeface="Montserrat ExtraBold"/>
                <a:sym typeface="Montserrat ExtraBold"/>
              </a:rPr>
              <a:t>Backlog</a:t>
            </a:r>
            <a:endParaRPr sz="10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166" name="Google Shape;166;p17"/>
          <p:cNvSpPr/>
          <p:nvPr/>
        </p:nvSpPr>
        <p:spPr>
          <a:xfrm>
            <a:off x="777078" y="3739317"/>
            <a:ext cx="197700" cy="215400"/>
          </a:xfrm>
          <a:prstGeom prst="down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67" name="Google Shape;167;p17"/>
          <p:cNvPicPr preferRelativeResize="0"/>
          <p:nvPr/>
        </p:nvPicPr>
        <p:blipFill>
          <a:blip r:embed="rId9">
            <a:alphaModFix/>
          </a:blip>
          <a:stretch>
            <a:fillRect/>
          </a:stretch>
        </p:blipFill>
        <p:spPr>
          <a:xfrm>
            <a:off x="2306975" y="3902103"/>
            <a:ext cx="197700" cy="197700"/>
          </a:xfrm>
          <a:prstGeom prst="rect">
            <a:avLst/>
          </a:prstGeom>
          <a:noFill/>
          <a:ln>
            <a:noFill/>
          </a:ln>
        </p:spPr>
      </p:pic>
      <p:sp>
        <p:nvSpPr>
          <p:cNvPr id="168" name="Google Shape;168;p17"/>
          <p:cNvSpPr txBox="1"/>
          <p:nvPr/>
        </p:nvSpPr>
        <p:spPr>
          <a:xfrm>
            <a:off x="1801475" y="4010165"/>
            <a:ext cx="1253400" cy="2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sz="1000">
                <a:solidFill>
                  <a:schemeClr val="lt1"/>
                </a:solidFill>
                <a:latin typeface="Montserrat ExtraBold"/>
                <a:ea typeface="Montserrat ExtraBold"/>
                <a:cs typeface="Montserrat ExtraBold"/>
                <a:sym typeface="Montserrat ExtraBold"/>
              </a:rPr>
              <a:t>Design</a:t>
            </a:r>
            <a:endParaRPr sz="1800">
              <a:solidFill>
                <a:schemeClr val="dk2"/>
              </a:solidFill>
              <a:latin typeface="Lato"/>
              <a:ea typeface="Lato"/>
              <a:cs typeface="Lato"/>
              <a:sym typeface="Lato"/>
            </a:endParaRPr>
          </a:p>
        </p:txBody>
      </p:sp>
      <p:pic>
        <p:nvPicPr>
          <p:cNvPr id="169" name="Google Shape;169;p17"/>
          <p:cNvPicPr preferRelativeResize="0"/>
          <p:nvPr/>
        </p:nvPicPr>
        <p:blipFill>
          <a:blip r:embed="rId10">
            <a:alphaModFix/>
          </a:blip>
          <a:stretch>
            <a:fillRect/>
          </a:stretch>
        </p:blipFill>
        <p:spPr>
          <a:xfrm>
            <a:off x="3862175" y="3902100"/>
            <a:ext cx="197700" cy="197700"/>
          </a:xfrm>
          <a:prstGeom prst="rect">
            <a:avLst/>
          </a:prstGeom>
          <a:noFill/>
          <a:ln>
            <a:noFill/>
          </a:ln>
        </p:spPr>
      </p:pic>
      <p:sp>
        <p:nvSpPr>
          <p:cNvPr id="170" name="Google Shape;170;p17"/>
          <p:cNvSpPr txBox="1"/>
          <p:nvPr/>
        </p:nvSpPr>
        <p:spPr>
          <a:xfrm>
            <a:off x="3357205" y="4016460"/>
            <a:ext cx="1226400" cy="24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sz="1000">
                <a:solidFill>
                  <a:schemeClr val="lt1"/>
                </a:solidFill>
                <a:latin typeface="Montserrat ExtraBold"/>
                <a:ea typeface="Montserrat ExtraBold"/>
                <a:cs typeface="Montserrat ExtraBold"/>
                <a:sym typeface="Montserrat ExtraBold"/>
              </a:rPr>
              <a:t>Code</a:t>
            </a:r>
            <a:endParaRPr sz="10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171" name="Google Shape;171;p17"/>
          <p:cNvPicPr preferRelativeResize="0"/>
          <p:nvPr/>
        </p:nvPicPr>
        <p:blipFill>
          <a:blip r:embed="rId11">
            <a:alphaModFix/>
          </a:blip>
          <a:stretch>
            <a:fillRect/>
          </a:stretch>
        </p:blipFill>
        <p:spPr>
          <a:xfrm>
            <a:off x="5435676" y="3908406"/>
            <a:ext cx="185100" cy="185100"/>
          </a:xfrm>
          <a:prstGeom prst="rect">
            <a:avLst/>
          </a:prstGeom>
          <a:noFill/>
          <a:ln>
            <a:noFill/>
          </a:ln>
        </p:spPr>
      </p:pic>
      <p:sp>
        <p:nvSpPr>
          <p:cNvPr id="172" name="Google Shape;172;p17"/>
          <p:cNvSpPr txBox="1"/>
          <p:nvPr/>
        </p:nvSpPr>
        <p:spPr>
          <a:xfrm>
            <a:off x="4907925" y="4012688"/>
            <a:ext cx="1253400" cy="2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sz="1000">
                <a:solidFill>
                  <a:schemeClr val="lt1"/>
                </a:solidFill>
                <a:latin typeface="Montserrat ExtraBold"/>
                <a:ea typeface="Montserrat ExtraBold"/>
                <a:cs typeface="Montserrat ExtraBold"/>
                <a:sym typeface="Montserrat ExtraBold"/>
              </a:rPr>
              <a:t>CI/CD</a:t>
            </a:r>
            <a:endParaRPr sz="10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173" name="Google Shape;173;p17"/>
          <p:cNvPicPr preferRelativeResize="0"/>
          <p:nvPr/>
        </p:nvPicPr>
        <p:blipFill>
          <a:blip r:embed="rId12">
            <a:alphaModFix/>
          </a:blip>
          <a:stretch>
            <a:fillRect/>
          </a:stretch>
        </p:blipFill>
        <p:spPr>
          <a:xfrm>
            <a:off x="6947280" y="3908388"/>
            <a:ext cx="185100" cy="185115"/>
          </a:xfrm>
          <a:prstGeom prst="rect">
            <a:avLst/>
          </a:prstGeom>
          <a:noFill/>
          <a:ln>
            <a:noFill/>
          </a:ln>
        </p:spPr>
      </p:pic>
      <p:sp>
        <p:nvSpPr>
          <p:cNvPr id="174" name="Google Shape;174;p17"/>
          <p:cNvSpPr txBox="1"/>
          <p:nvPr/>
        </p:nvSpPr>
        <p:spPr>
          <a:xfrm>
            <a:off x="6416207" y="4008440"/>
            <a:ext cx="1253400" cy="24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sz="1000">
                <a:solidFill>
                  <a:schemeClr val="lt1"/>
                </a:solidFill>
                <a:latin typeface="Montserrat ExtraBold"/>
                <a:ea typeface="Montserrat ExtraBold"/>
                <a:cs typeface="Montserrat ExtraBold"/>
                <a:sym typeface="Montserrat ExtraBold"/>
              </a:rPr>
              <a:t>Validate</a:t>
            </a:r>
            <a:endParaRPr sz="10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78" name="Shape 178"/>
        <p:cNvGrpSpPr/>
        <p:nvPr/>
      </p:nvGrpSpPr>
      <p:grpSpPr>
        <a:xfrm>
          <a:off x="0" y="0"/>
          <a:ext cx="0" cy="0"/>
          <a:chOff x="0" y="0"/>
          <a:chExt cx="0" cy="0"/>
        </a:xfrm>
      </p:grpSpPr>
      <p:pic>
        <p:nvPicPr>
          <p:cNvPr id="179" name="Google Shape;179;p18"/>
          <p:cNvPicPr preferRelativeResize="0"/>
          <p:nvPr/>
        </p:nvPicPr>
        <p:blipFill>
          <a:blip r:embed="rId3">
            <a:alphaModFix amt="50000"/>
          </a:blip>
          <a:stretch>
            <a:fillRect/>
          </a:stretch>
        </p:blipFill>
        <p:spPr>
          <a:xfrm>
            <a:off x="4302325" y="348338"/>
            <a:ext cx="4446825" cy="4446825"/>
          </a:xfrm>
          <a:prstGeom prst="rect">
            <a:avLst/>
          </a:prstGeom>
          <a:noFill/>
          <a:ln>
            <a:noFill/>
          </a:ln>
        </p:spPr>
      </p:pic>
      <p:pic>
        <p:nvPicPr>
          <p:cNvPr id="180" name="Google Shape;180;p18"/>
          <p:cNvPicPr preferRelativeResize="0"/>
          <p:nvPr/>
        </p:nvPicPr>
        <p:blipFill>
          <a:blip r:embed="rId3">
            <a:alphaModFix amt="50000"/>
          </a:blip>
          <a:stretch>
            <a:fillRect/>
          </a:stretch>
        </p:blipFill>
        <p:spPr>
          <a:xfrm>
            <a:off x="315700" y="348338"/>
            <a:ext cx="4446825" cy="4446825"/>
          </a:xfrm>
          <a:prstGeom prst="rect">
            <a:avLst/>
          </a:prstGeom>
          <a:noFill/>
          <a:ln>
            <a:noFill/>
          </a:ln>
        </p:spPr>
      </p:pic>
      <p:pic>
        <p:nvPicPr>
          <p:cNvPr id="181" name="Google Shape;181;p18"/>
          <p:cNvPicPr preferRelativeResize="0"/>
          <p:nvPr/>
        </p:nvPicPr>
        <p:blipFill>
          <a:blip r:embed="rId4">
            <a:alphaModFix/>
          </a:blip>
          <a:stretch>
            <a:fillRect/>
          </a:stretch>
        </p:blipFill>
        <p:spPr>
          <a:xfrm>
            <a:off x="2444700" y="162737"/>
            <a:ext cx="4254600" cy="4818038"/>
          </a:xfrm>
          <a:prstGeom prst="rect">
            <a:avLst/>
          </a:prstGeom>
          <a:noFill/>
          <a:ln>
            <a:noFill/>
          </a:ln>
        </p:spPr>
      </p:pic>
      <p:sp>
        <p:nvSpPr>
          <p:cNvPr id="182" name="Google Shape;182;p18"/>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500">
                <a:solidFill>
                  <a:schemeClr val="lt2"/>
                </a:solidFill>
                <a:latin typeface="Montserrat ExtraBold"/>
                <a:ea typeface="Montserrat ExtraBold"/>
                <a:cs typeface="Montserrat ExtraBold"/>
                <a:sym typeface="Montserrat ExtraBold"/>
              </a:rPr>
              <a:t>Business Drivers</a:t>
            </a:r>
            <a:endParaRPr sz="2500">
              <a:solidFill>
                <a:schemeClr val="lt2"/>
              </a:solidFill>
              <a:latin typeface="Montserrat ExtraBold"/>
              <a:ea typeface="Montserrat ExtraBold"/>
              <a:cs typeface="Montserrat ExtraBold"/>
              <a:sym typeface="Montserrat ExtraBold"/>
            </a:endParaRPr>
          </a:p>
        </p:txBody>
      </p:sp>
      <p:sp>
        <p:nvSpPr>
          <p:cNvPr id="183" name="Google Shape;183;p18"/>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Montserrat"/>
                <a:ea typeface="Montserrat"/>
                <a:cs typeface="Montserrat"/>
                <a:sym typeface="Montserrat"/>
              </a:rPr>
              <a:t>AI can draft strategy</a:t>
            </a:r>
            <a:endParaRPr b="1" sz="1200">
              <a:latin typeface="Montserrat"/>
              <a:ea typeface="Montserrat"/>
              <a:cs typeface="Montserrat"/>
              <a:sym typeface="Montserrat"/>
            </a:endParaRPr>
          </a:p>
          <a:p>
            <a:pPr indent="0" lvl="0" marL="0" rtl="0" algn="just">
              <a:spcBef>
                <a:spcPts val="1200"/>
              </a:spcBef>
              <a:spcAft>
                <a:spcPts val="0"/>
              </a:spcAft>
              <a:buNone/>
            </a:pPr>
            <a:r>
              <a:rPr lang="en" sz="1000">
                <a:latin typeface="Montserrat"/>
                <a:ea typeface="Montserrat"/>
                <a:cs typeface="Montserrat"/>
                <a:sym typeface="Montserrat"/>
              </a:rPr>
              <a:t>Business drivers rarely arrive as clean data. They're buried in a strategy deck, scattered meeting notes, or a spreadsheet of goals split across teams. AI can read through that material and turn it into an actual working draft: structured objectives, current status, and which ones are falling behind.</a:t>
            </a:r>
            <a:endParaRPr sz="1000">
              <a:latin typeface="Montserrat"/>
              <a:ea typeface="Montserrat"/>
              <a:cs typeface="Montserrat"/>
              <a:sym typeface="Montserrat"/>
            </a:endParaRPr>
          </a:p>
          <a:p>
            <a:pPr indent="0" lvl="0" marL="0" rtl="0" algn="just">
              <a:spcBef>
                <a:spcPts val="1200"/>
              </a:spcBef>
              <a:spcAft>
                <a:spcPts val="0"/>
              </a:spcAft>
              <a:buNone/>
            </a:pPr>
            <a:r>
              <a:rPr lang="en" sz="1000">
                <a:latin typeface="Montserrat"/>
                <a:ea typeface="Montserrat"/>
                <a:cs typeface="Montserrat"/>
                <a:sym typeface="Montserrat"/>
              </a:rPr>
              <a:t>That drafted structure carries into the update work too, turning meeting notes into the review-ready summary a leadership team would otherwise write from scratch. Objective tracking can run continuously as well, with some platforms flagging drift the moment it happens rather than waiting for the next check-in.</a:t>
            </a:r>
            <a:endParaRPr sz="1000">
              <a:latin typeface="Montserrat"/>
              <a:ea typeface="Montserrat"/>
              <a:cs typeface="Montserrat"/>
              <a:sym typeface="Montserrat"/>
            </a:endParaRPr>
          </a:p>
          <a:p>
            <a:pPr indent="0" lvl="0" marL="0" rtl="0" algn="l">
              <a:spcBef>
                <a:spcPts val="1200"/>
              </a:spcBef>
              <a:spcAft>
                <a:spcPts val="0"/>
              </a:spcAft>
              <a:buNone/>
            </a:pPr>
            <a:r>
              <a:rPr i="1" lang="en" sz="1000">
                <a:latin typeface="Montserrat"/>
                <a:ea typeface="Montserrat"/>
                <a:cs typeface="Montserrat"/>
                <a:sym typeface="Montserrat"/>
              </a:rPr>
              <a:t>Leading tools*: WorkBoard, Cascade, Profit.co</a:t>
            </a:r>
            <a:endParaRPr i="1" sz="1000">
              <a:latin typeface="Montserrat"/>
              <a:ea typeface="Montserrat"/>
              <a:cs typeface="Montserrat"/>
              <a:sym typeface="Montserrat"/>
            </a:endParaRPr>
          </a:p>
          <a:p>
            <a:pPr indent="0" lvl="0" marL="0" rtl="0" algn="l">
              <a:spcBef>
                <a:spcPts val="1200"/>
              </a:spcBef>
              <a:spcAft>
                <a:spcPts val="0"/>
              </a:spcAft>
              <a:buClr>
                <a:schemeClr val="dk2"/>
              </a:buClr>
              <a:buSzPts val="1100"/>
              <a:buFont typeface="Arial"/>
              <a:buNone/>
            </a:pPr>
            <a:r>
              <a:t/>
            </a:r>
            <a:endParaRPr sz="800">
              <a:latin typeface="Montserrat"/>
              <a:ea typeface="Montserrat"/>
              <a:cs typeface="Montserrat"/>
              <a:sym typeface="Montserrat"/>
            </a:endParaRPr>
          </a:p>
          <a:p>
            <a:pPr indent="0" lvl="0" marL="0" rtl="0" algn="l">
              <a:spcBef>
                <a:spcPts val="1200"/>
              </a:spcBef>
              <a:spcAft>
                <a:spcPts val="1000"/>
              </a:spcAft>
              <a:buNone/>
            </a:pPr>
            <a:r>
              <a:t/>
            </a:r>
            <a:endParaRPr sz="800">
              <a:latin typeface="Montserrat"/>
              <a:ea typeface="Montserrat"/>
              <a:cs typeface="Montserrat"/>
              <a:sym typeface="Montserrat"/>
            </a:endParaRPr>
          </a:p>
        </p:txBody>
      </p:sp>
      <p:pic>
        <p:nvPicPr>
          <p:cNvPr id="184" name="Google Shape;184;p18"/>
          <p:cNvPicPr preferRelativeResize="0"/>
          <p:nvPr/>
        </p:nvPicPr>
        <p:blipFill>
          <a:blip r:embed="rId5">
            <a:alphaModFix/>
          </a:blip>
          <a:stretch>
            <a:fillRect/>
          </a:stretch>
        </p:blipFill>
        <p:spPr>
          <a:xfrm>
            <a:off x="4300327" y="388882"/>
            <a:ext cx="543350" cy="543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B0E1"/>
        </a:solidFill>
      </p:bgPr>
    </p:bg>
    <p:spTree>
      <p:nvGrpSpPr>
        <p:cNvPr id="188" name="Shape 188"/>
        <p:cNvGrpSpPr/>
        <p:nvPr/>
      </p:nvGrpSpPr>
      <p:grpSpPr>
        <a:xfrm>
          <a:off x="0" y="0"/>
          <a:ext cx="0" cy="0"/>
          <a:chOff x="0" y="0"/>
          <a:chExt cx="0" cy="0"/>
        </a:xfrm>
      </p:grpSpPr>
      <p:pic>
        <p:nvPicPr>
          <p:cNvPr id="189" name="Google Shape;189;p19"/>
          <p:cNvPicPr preferRelativeResize="0"/>
          <p:nvPr/>
        </p:nvPicPr>
        <p:blipFill>
          <a:blip r:embed="rId3">
            <a:alphaModFix amt="50000"/>
          </a:blip>
          <a:stretch>
            <a:fillRect/>
          </a:stretch>
        </p:blipFill>
        <p:spPr>
          <a:xfrm>
            <a:off x="4422325" y="377650"/>
            <a:ext cx="4133850" cy="4133850"/>
          </a:xfrm>
          <a:prstGeom prst="rect">
            <a:avLst/>
          </a:prstGeom>
          <a:noFill/>
          <a:ln>
            <a:noFill/>
          </a:ln>
        </p:spPr>
      </p:pic>
      <p:pic>
        <p:nvPicPr>
          <p:cNvPr id="190" name="Google Shape;190;p19"/>
          <p:cNvPicPr preferRelativeResize="0"/>
          <p:nvPr/>
        </p:nvPicPr>
        <p:blipFill>
          <a:blip r:embed="rId3">
            <a:alphaModFix amt="50000"/>
          </a:blip>
          <a:stretch>
            <a:fillRect/>
          </a:stretch>
        </p:blipFill>
        <p:spPr>
          <a:xfrm>
            <a:off x="438150" y="377650"/>
            <a:ext cx="4133850" cy="4133850"/>
          </a:xfrm>
          <a:prstGeom prst="rect">
            <a:avLst/>
          </a:prstGeom>
          <a:noFill/>
          <a:ln>
            <a:noFill/>
          </a:ln>
        </p:spPr>
      </p:pic>
      <p:pic>
        <p:nvPicPr>
          <p:cNvPr id="191" name="Google Shape;191;p19"/>
          <p:cNvPicPr preferRelativeResize="0"/>
          <p:nvPr/>
        </p:nvPicPr>
        <p:blipFill>
          <a:blip r:embed="rId4">
            <a:alphaModFix/>
          </a:blip>
          <a:stretch>
            <a:fillRect/>
          </a:stretch>
        </p:blipFill>
        <p:spPr>
          <a:xfrm>
            <a:off x="2444700" y="162737"/>
            <a:ext cx="4254600" cy="4818038"/>
          </a:xfrm>
          <a:prstGeom prst="rect">
            <a:avLst/>
          </a:prstGeom>
          <a:noFill/>
          <a:ln>
            <a:noFill/>
          </a:ln>
        </p:spPr>
      </p:pic>
      <p:sp>
        <p:nvSpPr>
          <p:cNvPr id="192" name="Google Shape;192;p19"/>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500">
                <a:solidFill>
                  <a:schemeClr val="lt2"/>
                </a:solidFill>
                <a:latin typeface="Montserrat ExtraBold"/>
                <a:ea typeface="Montserrat ExtraBold"/>
                <a:cs typeface="Montserrat ExtraBold"/>
                <a:sym typeface="Montserrat ExtraBold"/>
              </a:rPr>
              <a:t>Usage Analytics</a:t>
            </a:r>
            <a:endParaRPr sz="2500">
              <a:solidFill>
                <a:schemeClr val="lt2"/>
              </a:solidFill>
              <a:latin typeface="Montserrat ExtraBold"/>
              <a:ea typeface="Montserrat ExtraBold"/>
              <a:cs typeface="Montserrat ExtraBold"/>
              <a:sym typeface="Montserrat ExtraBold"/>
            </a:endParaRPr>
          </a:p>
        </p:txBody>
      </p:sp>
      <p:sp>
        <p:nvSpPr>
          <p:cNvPr id="193" name="Google Shape;193;p19"/>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b="1" lang="en" sz="1100">
                <a:latin typeface="Montserrat"/>
                <a:ea typeface="Montserrat"/>
                <a:cs typeface="Montserrat"/>
                <a:sym typeface="Montserrat"/>
              </a:rPr>
              <a:t>AI can explain metric changes</a:t>
            </a:r>
            <a:endParaRPr b="1" sz="1100">
              <a:latin typeface="Montserrat"/>
              <a:ea typeface="Montserrat"/>
              <a:cs typeface="Montserrat"/>
              <a:sym typeface="Montserrat"/>
            </a:endParaRPr>
          </a:p>
          <a:p>
            <a:pPr indent="0" lvl="0" marL="0" rtl="0" algn="just">
              <a:spcBef>
                <a:spcPts val="1200"/>
              </a:spcBef>
              <a:spcAft>
                <a:spcPts val="0"/>
              </a:spcAft>
              <a:buClr>
                <a:schemeClr val="dk2"/>
              </a:buClr>
              <a:buSzPts val="1100"/>
              <a:buFont typeface="Arial"/>
              <a:buNone/>
            </a:pPr>
            <a:r>
              <a:rPr lang="en" sz="1000">
                <a:latin typeface="Montserrat"/>
                <a:ea typeface="Montserrat"/>
                <a:cs typeface="Montserrat"/>
                <a:sym typeface="Montserrat"/>
              </a:rPr>
              <a:t>Dashboards pile up numbers fast, but a chart alone rarely explains why a metric moved. AI can dig into the underlying activity data and put that explanation into plain language: which segment shifted, what changed right before it, and how significant the move actually is.</a:t>
            </a:r>
            <a:endParaRPr sz="1000">
              <a:latin typeface="Montserrat"/>
              <a:ea typeface="Montserrat"/>
              <a:cs typeface="Montserrat"/>
              <a:sym typeface="Montserrat"/>
            </a:endParaRPr>
          </a:p>
          <a:p>
            <a:pPr indent="0" lvl="0" marL="0" rtl="0" algn="just">
              <a:spcBef>
                <a:spcPts val="1200"/>
              </a:spcBef>
              <a:spcAft>
                <a:spcPts val="0"/>
              </a:spcAft>
              <a:buNone/>
            </a:pPr>
            <a:r>
              <a:rPr lang="en" sz="1000">
                <a:latin typeface="Montserrat"/>
                <a:ea typeface="Montserrat"/>
                <a:cs typeface="Montserrat"/>
                <a:sym typeface="Montserrat"/>
              </a:rPr>
              <a:t>That explanation used to take an afternoon of manual queries to piece together. Now it can surface automatically, with some platforms watching metrics around the clock and flagging anomalies the moment they appear.</a:t>
            </a:r>
            <a:endParaRPr sz="1000">
              <a:latin typeface="Montserrat"/>
              <a:ea typeface="Montserrat"/>
              <a:cs typeface="Montserrat"/>
              <a:sym typeface="Montserrat"/>
            </a:endParaRPr>
          </a:p>
          <a:p>
            <a:pPr indent="0" lvl="0" marL="0" rtl="0" algn="l">
              <a:spcBef>
                <a:spcPts val="1200"/>
              </a:spcBef>
              <a:spcAft>
                <a:spcPts val="1200"/>
              </a:spcAft>
              <a:buNone/>
            </a:pPr>
            <a:r>
              <a:rPr i="1" lang="en" sz="1000">
                <a:latin typeface="Montserrat"/>
                <a:ea typeface="Montserrat"/>
                <a:cs typeface="Montserrat"/>
                <a:sym typeface="Montserrat"/>
              </a:rPr>
              <a:t>Leading tools*: Amplitude, Mixpanel, Pendo</a:t>
            </a:r>
            <a:endParaRPr i="1" sz="1000">
              <a:latin typeface="Montserrat"/>
              <a:ea typeface="Montserrat"/>
              <a:cs typeface="Montserrat"/>
              <a:sym typeface="Montserrat"/>
            </a:endParaRPr>
          </a:p>
        </p:txBody>
      </p:sp>
      <p:pic>
        <p:nvPicPr>
          <p:cNvPr id="194" name="Google Shape;194;p19"/>
          <p:cNvPicPr preferRelativeResize="0"/>
          <p:nvPr/>
        </p:nvPicPr>
        <p:blipFill>
          <a:blip r:embed="rId5">
            <a:alphaModFix/>
          </a:blip>
          <a:stretch>
            <a:fillRect/>
          </a:stretch>
        </p:blipFill>
        <p:spPr>
          <a:xfrm>
            <a:off x="4290713" y="377650"/>
            <a:ext cx="562575" cy="562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55CC"/>
        </a:solidFill>
      </p:bgPr>
    </p:bg>
    <p:spTree>
      <p:nvGrpSpPr>
        <p:cNvPr id="198" name="Shape 198"/>
        <p:cNvGrpSpPr/>
        <p:nvPr/>
      </p:nvGrpSpPr>
      <p:grpSpPr>
        <a:xfrm>
          <a:off x="0" y="0"/>
          <a:ext cx="0" cy="0"/>
          <a:chOff x="0" y="0"/>
          <a:chExt cx="0" cy="0"/>
        </a:xfrm>
      </p:grpSpPr>
      <p:pic>
        <p:nvPicPr>
          <p:cNvPr id="199" name="Google Shape;199;p20"/>
          <p:cNvPicPr preferRelativeResize="0"/>
          <p:nvPr/>
        </p:nvPicPr>
        <p:blipFill>
          <a:blip r:embed="rId3">
            <a:alphaModFix amt="50000"/>
          </a:blip>
          <a:stretch>
            <a:fillRect/>
          </a:stretch>
        </p:blipFill>
        <p:spPr>
          <a:xfrm>
            <a:off x="4572000" y="603650"/>
            <a:ext cx="3936200" cy="3936200"/>
          </a:xfrm>
          <a:prstGeom prst="rect">
            <a:avLst/>
          </a:prstGeom>
          <a:noFill/>
          <a:ln>
            <a:noFill/>
          </a:ln>
        </p:spPr>
      </p:pic>
      <p:pic>
        <p:nvPicPr>
          <p:cNvPr id="200" name="Google Shape;200;p20"/>
          <p:cNvPicPr preferRelativeResize="0"/>
          <p:nvPr/>
        </p:nvPicPr>
        <p:blipFill>
          <a:blip r:embed="rId3">
            <a:alphaModFix amt="50000"/>
          </a:blip>
          <a:stretch>
            <a:fillRect/>
          </a:stretch>
        </p:blipFill>
        <p:spPr>
          <a:xfrm>
            <a:off x="635800" y="603650"/>
            <a:ext cx="3936200" cy="3936200"/>
          </a:xfrm>
          <a:prstGeom prst="rect">
            <a:avLst/>
          </a:prstGeom>
          <a:noFill/>
          <a:ln>
            <a:noFill/>
          </a:ln>
        </p:spPr>
      </p:pic>
      <p:pic>
        <p:nvPicPr>
          <p:cNvPr id="201" name="Google Shape;201;p20"/>
          <p:cNvPicPr preferRelativeResize="0"/>
          <p:nvPr/>
        </p:nvPicPr>
        <p:blipFill>
          <a:blip r:embed="rId4">
            <a:alphaModFix/>
          </a:blip>
          <a:stretch>
            <a:fillRect/>
          </a:stretch>
        </p:blipFill>
        <p:spPr>
          <a:xfrm>
            <a:off x="2444700" y="162737"/>
            <a:ext cx="4254600" cy="4818038"/>
          </a:xfrm>
          <a:prstGeom prst="rect">
            <a:avLst/>
          </a:prstGeom>
          <a:noFill/>
          <a:ln>
            <a:noFill/>
          </a:ln>
        </p:spPr>
      </p:pic>
      <p:sp>
        <p:nvSpPr>
          <p:cNvPr id="202" name="Google Shape;202;p20"/>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500">
                <a:solidFill>
                  <a:schemeClr val="lt2"/>
                </a:solidFill>
                <a:latin typeface="Montserrat ExtraBold"/>
                <a:ea typeface="Montserrat ExtraBold"/>
                <a:cs typeface="Montserrat ExtraBold"/>
                <a:sym typeface="Montserrat ExtraBold"/>
              </a:rPr>
              <a:t>User Feedback</a:t>
            </a:r>
            <a:endParaRPr sz="2500">
              <a:solidFill>
                <a:schemeClr val="lt2"/>
              </a:solidFill>
              <a:latin typeface="Montserrat ExtraBold"/>
              <a:ea typeface="Montserrat ExtraBold"/>
              <a:cs typeface="Montserrat ExtraBold"/>
              <a:sym typeface="Montserrat ExtraBold"/>
            </a:endParaRPr>
          </a:p>
        </p:txBody>
      </p:sp>
      <p:sp>
        <p:nvSpPr>
          <p:cNvPr id="203" name="Google Shape;203;p20"/>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Montserrat"/>
                <a:ea typeface="Montserrat"/>
                <a:cs typeface="Montserrat"/>
                <a:sym typeface="Montserrat"/>
              </a:rPr>
              <a:t>AI can draw themes</a:t>
            </a:r>
            <a:endParaRPr b="1" sz="1100">
              <a:latin typeface="Montserrat"/>
              <a:ea typeface="Montserrat"/>
              <a:cs typeface="Montserrat"/>
              <a:sym typeface="Montserrat"/>
            </a:endParaRPr>
          </a:p>
          <a:p>
            <a:pPr indent="0" lvl="0" marL="0" rtl="0" algn="just">
              <a:spcBef>
                <a:spcPts val="1200"/>
              </a:spcBef>
              <a:spcAft>
                <a:spcPts val="0"/>
              </a:spcAft>
              <a:buClr>
                <a:schemeClr val="dk2"/>
              </a:buClr>
              <a:buSzPts val="1100"/>
              <a:buFont typeface="Arial"/>
              <a:buNone/>
            </a:pPr>
            <a:r>
              <a:rPr lang="en" sz="1000">
                <a:latin typeface="Montserrat"/>
                <a:ea typeface="Montserrat"/>
                <a:cs typeface="Montserrat"/>
                <a:sym typeface="Montserrat"/>
              </a:rPr>
              <a:t>Feedback lands scattered across reviews, tickets, calls, and surveys, too much volume for anyone to read line by line. AI can draw the throughline out of that noise, surfacing the themes that actually repeat instead of just the loudest single complaint.</a:t>
            </a:r>
            <a:endParaRPr sz="1000">
              <a:latin typeface="Montserrat"/>
              <a:ea typeface="Montserrat"/>
              <a:cs typeface="Montserrat"/>
              <a:sym typeface="Montserrat"/>
            </a:endParaRPr>
          </a:p>
          <a:p>
            <a:pPr indent="0" lvl="0" marL="0" rtl="0" algn="just">
              <a:spcBef>
                <a:spcPts val="1200"/>
              </a:spcBef>
              <a:spcAft>
                <a:spcPts val="0"/>
              </a:spcAft>
              <a:buNone/>
            </a:pPr>
            <a:r>
              <a:rPr lang="en" sz="1000">
                <a:latin typeface="Montserrat"/>
                <a:ea typeface="Montserrat"/>
                <a:cs typeface="Montserrat"/>
                <a:sym typeface="Montserrat"/>
              </a:rPr>
              <a:t>Those themes can come ranked too, by how often they show up and how urgent they are, so the pattern is visible at a glance. Some platforms keep drawing that picture continuously, updating as new feedback lands rather than refreshing it once a quarter.</a:t>
            </a:r>
            <a:endParaRPr sz="1000">
              <a:latin typeface="Montserrat"/>
              <a:ea typeface="Montserrat"/>
              <a:cs typeface="Montserrat"/>
              <a:sym typeface="Montserrat"/>
            </a:endParaRPr>
          </a:p>
          <a:p>
            <a:pPr indent="0" lvl="0" marL="0" rtl="0" algn="l">
              <a:spcBef>
                <a:spcPts val="1200"/>
              </a:spcBef>
              <a:spcAft>
                <a:spcPts val="1200"/>
              </a:spcAft>
              <a:buNone/>
            </a:pPr>
            <a:r>
              <a:rPr i="1" lang="en" sz="1000">
                <a:latin typeface="Montserrat"/>
                <a:ea typeface="Montserrat"/>
                <a:cs typeface="Montserrat"/>
                <a:sym typeface="Montserrat"/>
              </a:rPr>
              <a:t>Leading tools*: </a:t>
            </a:r>
            <a:r>
              <a:rPr i="1" lang="en" sz="1000">
                <a:latin typeface="Montserrat"/>
                <a:ea typeface="Montserrat"/>
                <a:cs typeface="Montserrat"/>
                <a:sym typeface="Montserrat"/>
              </a:rPr>
              <a:t>Productboard, Enterpret, Canny</a:t>
            </a:r>
            <a:endParaRPr i="1" sz="1000">
              <a:latin typeface="Montserrat"/>
              <a:ea typeface="Montserrat"/>
              <a:cs typeface="Montserrat"/>
              <a:sym typeface="Montserrat"/>
            </a:endParaRPr>
          </a:p>
        </p:txBody>
      </p:sp>
      <p:pic>
        <p:nvPicPr>
          <p:cNvPr id="204" name="Google Shape;204;p20"/>
          <p:cNvPicPr preferRelativeResize="0"/>
          <p:nvPr/>
        </p:nvPicPr>
        <p:blipFill>
          <a:blip r:embed="rId5">
            <a:alphaModFix/>
          </a:blip>
          <a:stretch>
            <a:fillRect/>
          </a:stretch>
        </p:blipFill>
        <p:spPr>
          <a:xfrm>
            <a:off x="4240100" y="303900"/>
            <a:ext cx="663825" cy="663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5381"/>
        </a:solidFill>
      </p:bgPr>
    </p:bg>
    <p:spTree>
      <p:nvGrpSpPr>
        <p:cNvPr id="208" name="Shape 208"/>
        <p:cNvGrpSpPr/>
        <p:nvPr/>
      </p:nvGrpSpPr>
      <p:grpSpPr>
        <a:xfrm>
          <a:off x="0" y="0"/>
          <a:ext cx="0" cy="0"/>
          <a:chOff x="0" y="0"/>
          <a:chExt cx="0" cy="0"/>
        </a:xfrm>
      </p:grpSpPr>
      <p:pic>
        <p:nvPicPr>
          <p:cNvPr id="209" name="Google Shape;209;p21"/>
          <p:cNvPicPr preferRelativeResize="0"/>
          <p:nvPr/>
        </p:nvPicPr>
        <p:blipFill>
          <a:blip r:embed="rId3">
            <a:alphaModFix amt="50000"/>
          </a:blip>
          <a:stretch>
            <a:fillRect/>
          </a:stretch>
        </p:blipFill>
        <p:spPr>
          <a:xfrm>
            <a:off x="4647658" y="689662"/>
            <a:ext cx="3764175" cy="3764175"/>
          </a:xfrm>
          <a:prstGeom prst="rect">
            <a:avLst/>
          </a:prstGeom>
          <a:noFill/>
          <a:ln>
            <a:noFill/>
          </a:ln>
        </p:spPr>
      </p:pic>
      <p:pic>
        <p:nvPicPr>
          <p:cNvPr id="210" name="Google Shape;210;p21"/>
          <p:cNvPicPr preferRelativeResize="0"/>
          <p:nvPr/>
        </p:nvPicPr>
        <p:blipFill>
          <a:blip r:embed="rId3">
            <a:alphaModFix amt="50000"/>
          </a:blip>
          <a:stretch>
            <a:fillRect/>
          </a:stretch>
        </p:blipFill>
        <p:spPr>
          <a:xfrm>
            <a:off x="725225" y="689662"/>
            <a:ext cx="3764175" cy="3764175"/>
          </a:xfrm>
          <a:prstGeom prst="rect">
            <a:avLst/>
          </a:prstGeom>
          <a:noFill/>
          <a:ln>
            <a:noFill/>
          </a:ln>
        </p:spPr>
      </p:pic>
      <p:pic>
        <p:nvPicPr>
          <p:cNvPr id="211" name="Google Shape;211;p21"/>
          <p:cNvPicPr preferRelativeResize="0"/>
          <p:nvPr/>
        </p:nvPicPr>
        <p:blipFill>
          <a:blip r:embed="rId4">
            <a:alphaModFix/>
          </a:blip>
          <a:stretch>
            <a:fillRect/>
          </a:stretch>
        </p:blipFill>
        <p:spPr>
          <a:xfrm>
            <a:off x="2444700" y="162737"/>
            <a:ext cx="4254600" cy="4818038"/>
          </a:xfrm>
          <a:prstGeom prst="rect">
            <a:avLst/>
          </a:prstGeom>
          <a:noFill/>
          <a:ln>
            <a:noFill/>
          </a:ln>
        </p:spPr>
      </p:pic>
      <p:sp>
        <p:nvSpPr>
          <p:cNvPr id="212" name="Google Shape;212;p21"/>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500">
                <a:solidFill>
                  <a:schemeClr val="lt2"/>
                </a:solidFill>
                <a:latin typeface="Montserrat ExtraBold"/>
                <a:ea typeface="Montserrat ExtraBold"/>
                <a:cs typeface="Montserrat ExtraBold"/>
                <a:sym typeface="Montserrat ExtraBold"/>
              </a:rPr>
              <a:t>System Logs</a:t>
            </a:r>
            <a:endParaRPr sz="2500">
              <a:solidFill>
                <a:schemeClr val="lt2"/>
              </a:solidFill>
              <a:latin typeface="Montserrat ExtraBold"/>
              <a:ea typeface="Montserrat ExtraBold"/>
              <a:cs typeface="Montserrat ExtraBold"/>
              <a:sym typeface="Montserrat ExtraBold"/>
            </a:endParaRPr>
          </a:p>
        </p:txBody>
      </p:sp>
      <p:sp>
        <p:nvSpPr>
          <p:cNvPr id="213" name="Google Shape;213;p21"/>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Arial"/>
                <a:ea typeface="Arial"/>
                <a:cs typeface="Arial"/>
                <a:sym typeface="Arial"/>
              </a:rPr>
              <a:t>AI can pinpoint root causes</a:t>
            </a:r>
            <a:endParaRPr b="1" sz="1100">
              <a:latin typeface="Montserrat"/>
              <a:ea typeface="Montserrat"/>
              <a:cs typeface="Montserrat"/>
              <a:sym typeface="Montserrat"/>
            </a:endParaRPr>
          </a:p>
          <a:p>
            <a:pPr indent="0" lvl="0" marL="0" rtl="0" algn="just">
              <a:spcBef>
                <a:spcPts val="1200"/>
              </a:spcBef>
              <a:spcAft>
                <a:spcPts val="0"/>
              </a:spcAft>
              <a:buClr>
                <a:schemeClr val="dk2"/>
              </a:buClr>
              <a:buSzPts val="1100"/>
              <a:buFont typeface="Arial"/>
              <a:buNone/>
            </a:pPr>
            <a:r>
              <a:rPr lang="en" sz="1000">
                <a:latin typeface="Montserrat"/>
                <a:ea typeface="Montserrat"/>
                <a:cs typeface="Montserrat"/>
                <a:sym typeface="Montserrat"/>
              </a:rPr>
              <a:t>A single outage can throw off thousands of log lines and a dozen false leads. AI can cut through that noise and pinpoint the actual cause, correlating logs, traces, and the code change that likely triggered it.</a:t>
            </a:r>
            <a:endParaRPr sz="1000">
              <a:latin typeface="Montserrat"/>
              <a:ea typeface="Montserrat"/>
              <a:cs typeface="Montserrat"/>
              <a:sym typeface="Montserrat"/>
            </a:endParaRPr>
          </a:p>
          <a:p>
            <a:pPr indent="0" lvl="0" marL="0" rtl="0" algn="just">
              <a:spcBef>
                <a:spcPts val="1200"/>
              </a:spcBef>
              <a:spcAft>
                <a:spcPts val="0"/>
              </a:spcAft>
              <a:buNone/>
            </a:pPr>
            <a:r>
              <a:rPr lang="en" sz="1000">
                <a:latin typeface="Montserrat"/>
                <a:ea typeface="Montserrat"/>
                <a:cs typeface="Montserrat"/>
                <a:sym typeface="Montserrat"/>
              </a:rPr>
              <a:t>Finding the cause is only half the job, though. Once it's pinpointed, AI can draft the fix too, and some platforms go as far as opening a ready-to-review pull request the moment they've diagnosed the failure.</a:t>
            </a:r>
            <a:endParaRPr sz="1000">
              <a:latin typeface="Montserrat"/>
              <a:ea typeface="Montserrat"/>
              <a:cs typeface="Montserrat"/>
              <a:sym typeface="Montserrat"/>
            </a:endParaRPr>
          </a:p>
          <a:p>
            <a:pPr indent="0" lvl="0" marL="0" rtl="0" algn="l">
              <a:spcBef>
                <a:spcPts val="1200"/>
              </a:spcBef>
              <a:spcAft>
                <a:spcPts val="1200"/>
              </a:spcAft>
              <a:buNone/>
            </a:pPr>
            <a:r>
              <a:rPr i="1" lang="en" sz="1000">
                <a:latin typeface="Montserrat"/>
                <a:ea typeface="Montserrat"/>
                <a:cs typeface="Montserrat"/>
                <a:sym typeface="Montserrat"/>
              </a:rPr>
              <a:t>Leading tools*: </a:t>
            </a:r>
            <a:r>
              <a:rPr i="1" lang="en" sz="1000">
                <a:latin typeface="Montserrat"/>
                <a:ea typeface="Montserrat"/>
                <a:cs typeface="Montserrat"/>
                <a:sym typeface="Montserrat"/>
              </a:rPr>
              <a:t>Sentry, Datadog, Dynatrace</a:t>
            </a:r>
            <a:endParaRPr i="1" sz="1000">
              <a:latin typeface="Montserrat"/>
              <a:ea typeface="Montserrat"/>
              <a:cs typeface="Montserrat"/>
              <a:sym typeface="Montserrat"/>
            </a:endParaRPr>
          </a:p>
        </p:txBody>
      </p:sp>
      <p:pic>
        <p:nvPicPr>
          <p:cNvPr id="214" name="Google Shape;214;p21"/>
          <p:cNvPicPr preferRelativeResize="0"/>
          <p:nvPr/>
        </p:nvPicPr>
        <p:blipFill>
          <a:blip r:embed="rId5">
            <a:alphaModFix/>
          </a:blip>
          <a:stretch>
            <a:fillRect/>
          </a:stretch>
        </p:blipFill>
        <p:spPr>
          <a:xfrm>
            <a:off x="4275836" y="366847"/>
            <a:ext cx="592325" cy="592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173E"/>
        </a:solidFill>
      </p:bgPr>
    </p:bg>
    <p:spTree>
      <p:nvGrpSpPr>
        <p:cNvPr id="218" name="Shape 218"/>
        <p:cNvGrpSpPr/>
        <p:nvPr/>
      </p:nvGrpSpPr>
      <p:grpSpPr>
        <a:xfrm>
          <a:off x="0" y="0"/>
          <a:ext cx="0" cy="0"/>
          <a:chOff x="0" y="0"/>
          <a:chExt cx="0" cy="0"/>
        </a:xfrm>
      </p:grpSpPr>
      <p:pic>
        <p:nvPicPr>
          <p:cNvPr id="219" name="Google Shape;219;p22"/>
          <p:cNvPicPr preferRelativeResize="0"/>
          <p:nvPr/>
        </p:nvPicPr>
        <p:blipFill>
          <a:blip r:embed="rId3">
            <a:alphaModFix amt="50000"/>
          </a:blip>
          <a:stretch>
            <a:fillRect/>
          </a:stretch>
        </p:blipFill>
        <p:spPr>
          <a:xfrm>
            <a:off x="4861025" y="877613"/>
            <a:ext cx="3388275" cy="3388275"/>
          </a:xfrm>
          <a:prstGeom prst="rect">
            <a:avLst/>
          </a:prstGeom>
          <a:noFill/>
          <a:ln>
            <a:noFill/>
          </a:ln>
        </p:spPr>
      </p:pic>
      <p:pic>
        <p:nvPicPr>
          <p:cNvPr id="220" name="Google Shape;220;p22"/>
          <p:cNvPicPr preferRelativeResize="0"/>
          <p:nvPr/>
        </p:nvPicPr>
        <p:blipFill>
          <a:blip r:embed="rId3">
            <a:alphaModFix amt="50000"/>
          </a:blip>
          <a:stretch>
            <a:fillRect/>
          </a:stretch>
        </p:blipFill>
        <p:spPr>
          <a:xfrm>
            <a:off x="894700" y="877613"/>
            <a:ext cx="3388275" cy="3388275"/>
          </a:xfrm>
          <a:prstGeom prst="rect">
            <a:avLst/>
          </a:prstGeom>
          <a:noFill/>
          <a:ln>
            <a:noFill/>
          </a:ln>
        </p:spPr>
      </p:pic>
      <p:pic>
        <p:nvPicPr>
          <p:cNvPr id="221" name="Google Shape;221;p22"/>
          <p:cNvPicPr preferRelativeResize="0"/>
          <p:nvPr/>
        </p:nvPicPr>
        <p:blipFill>
          <a:blip r:embed="rId4">
            <a:alphaModFix/>
          </a:blip>
          <a:stretch>
            <a:fillRect/>
          </a:stretch>
        </p:blipFill>
        <p:spPr>
          <a:xfrm>
            <a:off x="2444700" y="162737"/>
            <a:ext cx="4254600" cy="4818038"/>
          </a:xfrm>
          <a:prstGeom prst="rect">
            <a:avLst/>
          </a:prstGeom>
          <a:noFill/>
          <a:ln>
            <a:noFill/>
          </a:ln>
        </p:spPr>
      </p:pic>
      <p:sp>
        <p:nvSpPr>
          <p:cNvPr id="222" name="Google Shape;222;p22"/>
          <p:cNvSpPr txBox="1"/>
          <p:nvPr/>
        </p:nvSpPr>
        <p:spPr>
          <a:xfrm>
            <a:off x="2855550" y="706259"/>
            <a:ext cx="3432900" cy="76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500">
                <a:solidFill>
                  <a:schemeClr val="lt2"/>
                </a:solidFill>
                <a:latin typeface="Montserrat ExtraBold"/>
                <a:ea typeface="Montserrat ExtraBold"/>
                <a:cs typeface="Montserrat ExtraBold"/>
                <a:sym typeface="Montserrat ExtraBold"/>
              </a:rPr>
              <a:t>Product Discovery</a:t>
            </a:r>
            <a:endParaRPr sz="2500">
              <a:solidFill>
                <a:schemeClr val="lt2"/>
              </a:solidFill>
              <a:latin typeface="Montserrat ExtraBold"/>
              <a:ea typeface="Montserrat ExtraBold"/>
              <a:cs typeface="Montserrat ExtraBold"/>
              <a:sym typeface="Montserrat ExtraBold"/>
            </a:endParaRPr>
          </a:p>
        </p:txBody>
      </p:sp>
      <p:sp>
        <p:nvSpPr>
          <p:cNvPr id="223" name="Google Shape;223;p22"/>
          <p:cNvSpPr txBox="1"/>
          <p:nvPr>
            <p:ph idx="4294967295" type="body"/>
          </p:nvPr>
        </p:nvSpPr>
        <p:spPr>
          <a:xfrm>
            <a:off x="2855550" y="1396342"/>
            <a:ext cx="3432900" cy="332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Montserrat"/>
                <a:ea typeface="Montserrat"/>
                <a:cs typeface="Montserrat"/>
                <a:sym typeface="Montserrat"/>
              </a:rPr>
              <a:t>AI can score and prioritize</a:t>
            </a:r>
            <a:endParaRPr b="1" sz="1100">
              <a:latin typeface="Montserrat"/>
              <a:ea typeface="Montserrat"/>
              <a:cs typeface="Montserrat"/>
              <a:sym typeface="Montserrat"/>
            </a:endParaRPr>
          </a:p>
          <a:p>
            <a:pPr indent="0" lvl="0" marL="0" rtl="0" algn="just">
              <a:spcBef>
                <a:spcPts val="1200"/>
              </a:spcBef>
              <a:spcAft>
                <a:spcPts val="0"/>
              </a:spcAft>
              <a:buClr>
                <a:schemeClr val="dk2"/>
              </a:buClr>
              <a:buSzPts val="1100"/>
              <a:buFont typeface="Arial"/>
              <a:buNone/>
            </a:pPr>
            <a:r>
              <a:rPr lang="en" sz="1000">
                <a:latin typeface="Montserrat"/>
                <a:ea typeface="Montserrat"/>
                <a:cs typeface="Montserrat"/>
                <a:sym typeface="Montserrat"/>
              </a:rPr>
              <a:t>A backlog of raw ideas rarely tells you which ones matter. AI can score each one against stated strategy and rank the list by expected value against effort, turning a gut-feel debate into a starting point everyone can react to.</a:t>
            </a:r>
            <a:endParaRPr sz="1000">
              <a:latin typeface="Montserrat"/>
              <a:ea typeface="Montserrat"/>
              <a:cs typeface="Montserrat"/>
              <a:sym typeface="Montserrat"/>
            </a:endParaRPr>
          </a:p>
          <a:p>
            <a:pPr indent="0" lvl="0" marL="0" rtl="0" algn="just">
              <a:spcBef>
                <a:spcPts val="1200"/>
              </a:spcBef>
              <a:spcAft>
                <a:spcPts val="0"/>
              </a:spcAft>
              <a:buNone/>
            </a:pPr>
            <a:r>
              <a:rPr lang="en" sz="1000">
                <a:latin typeface="Montserrat"/>
                <a:ea typeface="Montserrat"/>
                <a:cs typeface="Montserrat"/>
                <a:sym typeface="Montserrat"/>
              </a:rPr>
              <a:t>That scoring doesn't have to be static either. Conflicting priorities can get flagged before they turn into a planning-meeting fight, and some platforms keep the ranking live, reshuffling it the moment new data comes in.</a:t>
            </a:r>
            <a:endParaRPr sz="1000">
              <a:latin typeface="Montserrat"/>
              <a:ea typeface="Montserrat"/>
              <a:cs typeface="Montserrat"/>
              <a:sym typeface="Montserrat"/>
            </a:endParaRPr>
          </a:p>
          <a:p>
            <a:pPr indent="0" lvl="0" marL="0" rtl="0" algn="l">
              <a:spcBef>
                <a:spcPts val="1200"/>
              </a:spcBef>
              <a:spcAft>
                <a:spcPts val="1200"/>
              </a:spcAft>
              <a:buNone/>
            </a:pPr>
            <a:r>
              <a:rPr i="1" lang="en" sz="900">
                <a:latin typeface="Montserrat"/>
                <a:ea typeface="Montserrat"/>
                <a:cs typeface="Montserrat"/>
                <a:sym typeface="Montserrat"/>
              </a:rPr>
              <a:t>Leading tools*: </a:t>
            </a:r>
            <a:r>
              <a:rPr i="1" lang="en" sz="900">
                <a:latin typeface="Montserrat"/>
                <a:ea typeface="Montserrat"/>
                <a:cs typeface="Montserrat"/>
                <a:sym typeface="Montserrat"/>
              </a:rPr>
              <a:t>Jira Product Discovery, Aha!, airfocus</a:t>
            </a:r>
            <a:endParaRPr i="1" sz="900">
              <a:latin typeface="Montserrat"/>
              <a:ea typeface="Montserrat"/>
              <a:cs typeface="Montserrat"/>
              <a:sym typeface="Montserrat"/>
            </a:endParaRPr>
          </a:p>
        </p:txBody>
      </p:sp>
      <p:pic>
        <p:nvPicPr>
          <p:cNvPr id="224" name="Google Shape;224;p22"/>
          <p:cNvPicPr preferRelativeResize="0"/>
          <p:nvPr/>
        </p:nvPicPr>
        <p:blipFill>
          <a:blip r:embed="rId5">
            <a:alphaModFix/>
          </a:blip>
          <a:stretch>
            <a:fillRect/>
          </a:stretch>
        </p:blipFill>
        <p:spPr>
          <a:xfrm>
            <a:off x="4282963" y="361275"/>
            <a:ext cx="578075" cy="578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4856"/>
        </a:solidFill>
      </p:bgPr>
    </p:bg>
    <p:spTree>
      <p:nvGrpSpPr>
        <p:cNvPr id="228" name="Shape 228"/>
        <p:cNvGrpSpPr/>
        <p:nvPr/>
      </p:nvGrpSpPr>
      <p:grpSpPr>
        <a:xfrm>
          <a:off x="0" y="0"/>
          <a:ext cx="0" cy="0"/>
          <a:chOff x="0" y="0"/>
          <a:chExt cx="0" cy="0"/>
        </a:xfrm>
      </p:grpSpPr>
      <p:pic>
        <p:nvPicPr>
          <p:cNvPr id="229" name="Google Shape;229;p23"/>
          <p:cNvPicPr preferRelativeResize="0"/>
          <p:nvPr/>
        </p:nvPicPr>
        <p:blipFill>
          <a:blip r:embed="rId3">
            <a:alphaModFix amt="50000"/>
          </a:blip>
          <a:stretch>
            <a:fillRect/>
          </a:stretch>
        </p:blipFill>
        <p:spPr>
          <a:xfrm>
            <a:off x="4629775" y="667691"/>
            <a:ext cx="3808150" cy="3808125"/>
          </a:xfrm>
          <a:prstGeom prst="rect">
            <a:avLst/>
          </a:prstGeom>
          <a:noFill/>
          <a:ln>
            <a:noFill/>
          </a:ln>
        </p:spPr>
      </p:pic>
      <p:pic>
        <p:nvPicPr>
          <p:cNvPr id="230" name="Google Shape;230;p23"/>
          <p:cNvPicPr preferRelativeResize="0"/>
          <p:nvPr/>
        </p:nvPicPr>
        <p:blipFill>
          <a:blip r:embed="rId3">
            <a:alphaModFix amt="50000"/>
          </a:blip>
          <a:stretch>
            <a:fillRect/>
          </a:stretch>
        </p:blipFill>
        <p:spPr>
          <a:xfrm>
            <a:off x="685325" y="667691"/>
            <a:ext cx="3808150" cy="3808125"/>
          </a:xfrm>
          <a:prstGeom prst="rect">
            <a:avLst/>
          </a:prstGeom>
          <a:noFill/>
          <a:ln>
            <a:noFill/>
          </a:ln>
        </p:spPr>
      </p:pic>
      <p:pic>
        <p:nvPicPr>
          <p:cNvPr id="231" name="Google Shape;231;p23"/>
          <p:cNvPicPr preferRelativeResize="0"/>
          <p:nvPr/>
        </p:nvPicPr>
        <p:blipFill>
          <a:blip r:embed="rId4">
            <a:alphaModFix/>
          </a:blip>
          <a:stretch>
            <a:fillRect/>
          </a:stretch>
        </p:blipFill>
        <p:spPr>
          <a:xfrm>
            <a:off x="2444700" y="162737"/>
            <a:ext cx="4254600" cy="4818038"/>
          </a:xfrm>
          <a:prstGeom prst="rect">
            <a:avLst/>
          </a:prstGeom>
          <a:noFill/>
          <a:ln>
            <a:noFill/>
          </a:ln>
        </p:spPr>
      </p:pic>
      <p:sp>
        <p:nvSpPr>
          <p:cNvPr id="232" name="Google Shape;232;p23"/>
          <p:cNvSpPr txBox="1"/>
          <p:nvPr/>
        </p:nvSpPr>
        <p:spPr>
          <a:xfrm>
            <a:off x="2855550" y="738990"/>
            <a:ext cx="3432900" cy="76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500">
                <a:solidFill>
                  <a:schemeClr val="lt2"/>
                </a:solidFill>
                <a:latin typeface="Montserrat ExtraBold"/>
                <a:ea typeface="Montserrat ExtraBold"/>
                <a:cs typeface="Montserrat ExtraBold"/>
                <a:sym typeface="Montserrat ExtraBold"/>
              </a:rPr>
              <a:t>Backlog</a:t>
            </a:r>
            <a:endParaRPr sz="2500">
              <a:solidFill>
                <a:schemeClr val="lt2"/>
              </a:solidFill>
              <a:latin typeface="Montserrat ExtraBold"/>
              <a:ea typeface="Montserrat ExtraBold"/>
              <a:cs typeface="Montserrat ExtraBold"/>
              <a:sym typeface="Montserrat ExtraBold"/>
            </a:endParaRPr>
          </a:p>
        </p:txBody>
      </p:sp>
      <p:sp>
        <p:nvSpPr>
          <p:cNvPr id="233" name="Google Shape;233;p23"/>
          <p:cNvSpPr txBox="1"/>
          <p:nvPr>
            <p:ph idx="4294967295" type="body"/>
          </p:nvPr>
        </p:nvSpPr>
        <p:spPr>
          <a:xfrm>
            <a:off x="2855550" y="1396311"/>
            <a:ext cx="3432900" cy="332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Arial"/>
                <a:ea typeface="Arial"/>
                <a:cs typeface="Arial"/>
                <a:sym typeface="Arial"/>
              </a:rPr>
              <a:t>AI can draft tickets</a:t>
            </a:r>
            <a:endParaRPr b="1" sz="1100">
              <a:latin typeface="Montserrat"/>
              <a:ea typeface="Montserrat"/>
              <a:cs typeface="Montserrat"/>
              <a:sym typeface="Montserrat"/>
            </a:endParaRPr>
          </a:p>
          <a:p>
            <a:pPr indent="0" lvl="0" marL="0" rtl="0" algn="just">
              <a:spcBef>
                <a:spcPts val="1200"/>
              </a:spcBef>
              <a:spcAft>
                <a:spcPts val="0"/>
              </a:spcAft>
              <a:buClr>
                <a:schemeClr val="dk2"/>
              </a:buClr>
              <a:buSzPts val="1100"/>
              <a:buFont typeface="Arial"/>
              <a:buNone/>
            </a:pPr>
            <a:r>
              <a:rPr lang="en" sz="1000">
                <a:latin typeface="Montserrat"/>
                <a:ea typeface="Montserrat"/>
                <a:cs typeface="Montserrat"/>
                <a:sym typeface="Montserrat"/>
              </a:rPr>
              <a:t>Turning a decision into a well-formed ticket is repetitive: writing the description, acceptance criteria, and estimate every time. AI can draft all three from a short plain-language description, consistently rather than however each writer happens to phrase it.</a:t>
            </a:r>
            <a:endParaRPr sz="1000">
              <a:latin typeface="Montserrat"/>
              <a:ea typeface="Montserrat"/>
              <a:cs typeface="Montserrat"/>
              <a:sym typeface="Montserrat"/>
            </a:endParaRPr>
          </a:p>
          <a:p>
            <a:pPr indent="0" lvl="0" marL="0" rtl="0" algn="just">
              <a:spcBef>
                <a:spcPts val="1200"/>
              </a:spcBef>
              <a:spcAft>
                <a:spcPts val="0"/>
              </a:spcAft>
              <a:buNone/>
            </a:pPr>
            <a:r>
              <a:rPr lang="en" sz="1000">
                <a:latin typeface="Montserrat"/>
                <a:ea typeface="Montserrat"/>
                <a:cs typeface="Montserrat"/>
                <a:sym typeface="Montserrat"/>
              </a:rPr>
              <a:t>That same drafting extends further up the chain. A large epic can be broken into right-sized stories automatically, with anything not sprint-ready flagged before it derails planning. Some platforms will even draft the full sprint for a human to review.</a:t>
            </a:r>
            <a:endParaRPr sz="1000">
              <a:latin typeface="Montserrat"/>
              <a:ea typeface="Montserrat"/>
              <a:cs typeface="Montserrat"/>
              <a:sym typeface="Montserrat"/>
            </a:endParaRPr>
          </a:p>
          <a:p>
            <a:pPr indent="0" lvl="0" marL="0" rtl="0" algn="l">
              <a:spcBef>
                <a:spcPts val="1200"/>
              </a:spcBef>
              <a:spcAft>
                <a:spcPts val="1200"/>
              </a:spcAft>
              <a:buNone/>
            </a:pPr>
            <a:r>
              <a:rPr i="1" lang="en" sz="1000">
                <a:latin typeface="Montserrat"/>
                <a:ea typeface="Montserrat"/>
                <a:cs typeface="Montserrat"/>
                <a:sym typeface="Montserrat"/>
              </a:rPr>
              <a:t>Leading tools*: </a:t>
            </a:r>
            <a:r>
              <a:rPr i="1" lang="en" sz="1000">
                <a:latin typeface="Montserrat"/>
                <a:ea typeface="Montserrat"/>
                <a:cs typeface="Montserrat"/>
                <a:sym typeface="Montserrat"/>
              </a:rPr>
              <a:t>Jira, Azure DevOps, Linear</a:t>
            </a:r>
            <a:endParaRPr i="1" sz="1000">
              <a:latin typeface="Montserrat"/>
              <a:ea typeface="Montserrat"/>
              <a:cs typeface="Montserrat"/>
              <a:sym typeface="Montserrat"/>
            </a:endParaRPr>
          </a:p>
        </p:txBody>
      </p:sp>
      <p:pic>
        <p:nvPicPr>
          <p:cNvPr id="234" name="Google Shape;234;p23"/>
          <p:cNvPicPr preferRelativeResize="0"/>
          <p:nvPr/>
        </p:nvPicPr>
        <p:blipFill>
          <a:blip r:embed="rId5">
            <a:alphaModFix/>
          </a:blip>
          <a:stretch>
            <a:fillRect/>
          </a:stretch>
        </p:blipFill>
        <p:spPr>
          <a:xfrm>
            <a:off x="4164000" y="267591"/>
            <a:ext cx="816000" cy="816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8" name="Shape 238"/>
        <p:cNvGrpSpPr/>
        <p:nvPr/>
      </p:nvGrpSpPr>
      <p:grpSpPr>
        <a:xfrm>
          <a:off x="0" y="0"/>
          <a:ext cx="0" cy="0"/>
          <a:chOff x="0" y="0"/>
          <a:chExt cx="0" cy="0"/>
        </a:xfrm>
      </p:grpSpPr>
      <p:pic>
        <p:nvPicPr>
          <p:cNvPr id="239" name="Google Shape;239;p24"/>
          <p:cNvPicPr preferRelativeResize="0"/>
          <p:nvPr/>
        </p:nvPicPr>
        <p:blipFill>
          <a:blip r:embed="rId3">
            <a:alphaModFix amt="50000"/>
          </a:blip>
          <a:stretch>
            <a:fillRect/>
          </a:stretch>
        </p:blipFill>
        <p:spPr>
          <a:xfrm>
            <a:off x="4966625" y="982486"/>
            <a:ext cx="3178525" cy="3178525"/>
          </a:xfrm>
          <a:prstGeom prst="rect">
            <a:avLst/>
          </a:prstGeom>
          <a:noFill/>
          <a:ln>
            <a:noFill/>
          </a:ln>
        </p:spPr>
      </p:pic>
      <p:pic>
        <p:nvPicPr>
          <p:cNvPr id="240" name="Google Shape;240;p24"/>
          <p:cNvPicPr preferRelativeResize="0"/>
          <p:nvPr/>
        </p:nvPicPr>
        <p:blipFill>
          <a:blip r:embed="rId3">
            <a:alphaModFix amt="50000"/>
          </a:blip>
          <a:stretch>
            <a:fillRect/>
          </a:stretch>
        </p:blipFill>
        <p:spPr>
          <a:xfrm>
            <a:off x="1030225" y="982486"/>
            <a:ext cx="3178525" cy="3178525"/>
          </a:xfrm>
          <a:prstGeom prst="rect">
            <a:avLst/>
          </a:prstGeom>
          <a:noFill/>
          <a:ln>
            <a:noFill/>
          </a:ln>
        </p:spPr>
      </p:pic>
      <p:pic>
        <p:nvPicPr>
          <p:cNvPr id="241" name="Google Shape;241;p24"/>
          <p:cNvPicPr preferRelativeResize="0"/>
          <p:nvPr/>
        </p:nvPicPr>
        <p:blipFill>
          <a:blip r:embed="rId4">
            <a:alphaModFix/>
          </a:blip>
          <a:stretch>
            <a:fillRect/>
          </a:stretch>
        </p:blipFill>
        <p:spPr>
          <a:xfrm>
            <a:off x="2444700" y="162737"/>
            <a:ext cx="4254600" cy="4818038"/>
          </a:xfrm>
          <a:prstGeom prst="rect">
            <a:avLst/>
          </a:prstGeom>
          <a:noFill/>
          <a:ln>
            <a:noFill/>
          </a:ln>
        </p:spPr>
      </p:pic>
      <p:sp>
        <p:nvSpPr>
          <p:cNvPr id="242" name="Google Shape;242;p24"/>
          <p:cNvSpPr txBox="1"/>
          <p:nvPr/>
        </p:nvSpPr>
        <p:spPr>
          <a:xfrm>
            <a:off x="2855550" y="706259"/>
            <a:ext cx="3432900" cy="76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500">
                <a:solidFill>
                  <a:schemeClr val="lt2"/>
                </a:solidFill>
                <a:latin typeface="Montserrat ExtraBold"/>
                <a:ea typeface="Montserrat ExtraBold"/>
                <a:cs typeface="Montserrat ExtraBold"/>
                <a:sym typeface="Montserrat ExtraBold"/>
              </a:rPr>
              <a:t>Design</a:t>
            </a:r>
            <a:endParaRPr sz="2500">
              <a:solidFill>
                <a:schemeClr val="lt2"/>
              </a:solidFill>
              <a:latin typeface="Montserrat ExtraBold"/>
              <a:ea typeface="Montserrat ExtraBold"/>
              <a:cs typeface="Montserrat ExtraBold"/>
              <a:sym typeface="Montserrat ExtraBold"/>
            </a:endParaRPr>
          </a:p>
        </p:txBody>
      </p:sp>
      <p:sp>
        <p:nvSpPr>
          <p:cNvPr id="243" name="Google Shape;243;p24"/>
          <p:cNvSpPr txBox="1"/>
          <p:nvPr>
            <p:ph idx="4294967295" type="body"/>
          </p:nvPr>
        </p:nvSpPr>
        <p:spPr>
          <a:xfrm>
            <a:off x="2855550" y="1396342"/>
            <a:ext cx="3432900" cy="332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Montserrat"/>
                <a:ea typeface="Montserrat"/>
                <a:cs typeface="Montserrat"/>
                <a:sym typeface="Montserrat"/>
              </a:rPr>
              <a:t>AI can design from prompts</a:t>
            </a:r>
            <a:endParaRPr b="1" sz="1100">
              <a:latin typeface="Montserrat"/>
              <a:ea typeface="Montserrat"/>
              <a:cs typeface="Montserrat"/>
              <a:sym typeface="Montserrat"/>
            </a:endParaRPr>
          </a:p>
          <a:p>
            <a:pPr indent="0" lvl="0" marL="0" rtl="0" algn="just">
              <a:spcBef>
                <a:spcPts val="1200"/>
              </a:spcBef>
              <a:spcAft>
                <a:spcPts val="0"/>
              </a:spcAft>
              <a:buClr>
                <a:schemeClr val="dk2"/>
              </a:buClr>
              <a:buSzPts val="1100"/>
              <a:buFont typeface="Arial"/>
              <a:buNone/>
            </a:pPr>
            <a:r>
              <a:rPr lang="en" sz="1000">
                <a:latin typeface="Montserrat"/>
                <a:ea typeface="Montserrat"/>
                <a:cs typeface="Montserrat"/>
                <a:sym typeface="Montserrat"/>
              </a:rPr>
              <a:t>A blank canvas is often the slowest part of design. Describe the screen or paste a rough sketch, and AI can turn that prompt into a working interface, real components rather than a static image.</a:t>
            </a:r>
            <a:endParaRPr sz="1000">
              <a:latin typeface="Montserrat"/>
              <a:ea typeface="Montserrat"/>
              <a:cs typeface="Montserrat"/>
              <a:sym typeface="Montserrat"/>
            </a:endParaRPr>
          </a:p>
          <a:p>
            <a:pPr indent="0" lvl="0" marL="0" rtl="0" algn="just">
              <a:spcBef>
                <a:spcPts val="1200"/>
              </a:spcBef>
              <a:spcAft>
                <a:spcPts val="0"/>
              </a:spcAft>
              <a:buNone/>
            </a:pPr>
            <a:r>
              <a:rPr lang="en" sz="1000">
                <a:latin typeface="Montserrat"/>
                <a:ea typeface="Montserrat"/>
                <a:cs typeface="Montserrat"/>
                <a:sym typeface="Montserrat"/>
              </a:rPr>
              <a:t>The output doesn't have to look generic either. AI can apply an existing design system so what comes back already looks like the product it's for, and some platforms carry that prompt all the way to a clickable prototype or frontend code.</a:t>
            </a:r>
            <a:endParaRPr sz="1000">
              <a:latin typeface="Montserrat"/>
              <a:ea typeface="Montserrat"/>
              <a:cs typeface="Montserrat"/>
              <a:sym typeface="Montserrat"/>
            </a:endParaRPr>
          </a:p>
          <a:p>
            <a:pPr indent="0" lvl="0" marL="0" rtl="0" algn="l">
              <a:spcBef>
                <a:spcPts val="1200"/>
              </a:spcBef>
              <a:spcAft>
                <a:spcPts val="1200"/>
              </a:spcAft>
              <a:buNone/>
            </a:pPr>
            <a:r>
              <a:rPr i="1" lang="en" sz="1000">
                <a:latin typeface="Montserrat"/>
                <a:ea typeface="Montserrat"/>
                <a:cs typeface="Montserrat"/>
                <a:sym typeface="Montserrat"/>
              </a:rPr>
              <a:t>Leading tools*: </a:t>
            </a:r>
            <a:r>
              <a:rPr i="1" lang="en" sz="1000">
                <a:latin typeface="Montserrat"/>
                <a:ea typeface="Montserrat"/>
                <a:cs typeface="Montserrat"/>
                <a:sym typeface="Montserrat"/>
              </a:rPr>
              <a:t>Figma, Lovable, Bolt</a:t>
            </a:r>
            <a:endParaRPr i="1" sz="1000">
              <a:latin typeface="Montserrat"/>
              <a:ea typeface="Montserrat"/>
              <a:cs typeface="Montserrat"/>
              <a:sym typeface="Montserrat"/>
            </a:endParaRPr>
          </a:p>
        </p:txBody>
      </p:sp>
      <p:pic>
        <p:nvPicPr>
          <p:cNvPr id="244" name="Google Shape;244;p24"/>
          <p:cNvPicPr preferRelativeResize="0"/>
          <p:nvPr/>
        </p:nvPicPr>
        <p:blipFill>
          <a:blip r:embed="rId5">
            <a:alphaModFix/>
          </a:blip>
          <a:stretch>
            <a:fillRect/>
          </a:stretch>
        </p:blipFill>
        <p:spPr>
          <a:xfrm>
            <a:off x="4240488" y="312450"/>
            <a:ext cx="663025" cy="663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8E31"/>
        </a:solidFill>
      </p:bgPr>
    </p:bg>
    <p:spTree>
      <p:nvGrpSpPr>
        <p:cNvPr id="248" name="Shape 248"/>
        <p:cNvGrpSpPr/>
        <p:nvPr/>
      </p:nvGrpSpPr>
      <p:grpSpPr>
        <a:xfrm>
          <a:off x="0" y="0"/>
          <a:ext cx="0" cy="0"/>
          <a:chOff x="0" y="0"/>
          <a:chExt cx="0" cy="0"/>
        </a:xfrm>
      </p:grpSpPr>
      <p:pic>
        <p:nvPicPr>
          <p:cNvPr id="249" name="Google Shape;249;p25"/>
          <p:cNvPicPr preferRelativeResize="0"/>
          <p:nvPr/>
        </p:nvPicPr>
        <p:blipFill>
          <a:blip r:embed="rId3">
            <a:alphaModFix amt="50000"/>
          </a:blip>
          <a:stretch>
            <a:fillRect/>
          </a:stretch>
        </p:blipFill>
        <p:spPr>
          <a:xfrm>
            <a:off x="4780800" y="794638"/>
            <a:ext cx="3554225" cy="3554225"/>
          </a:xfrm>
          <a:prstGeom prst="rect">
            <a:avLst/>
          </a:prstGeom>
          <a:noFill/>
          <a:ln>
            <a:noFill/>
          </a:ln>
        </p:spPr>
      </p:pic>
      <p:pic>
        <p:nvPicPr>
          <p:cNvPr id="250" name="Google Shape;250;p25"/>
          <p:cNvPicPr preferRelativeResize="0"/>
          <p:nvPr/>
        </p:nvPicPr>
        <p:blipFill>
          <a:blip r:embed="rId3">
            <a:alphaModFix amt="50000"/>
          </a:blip>
          <a:stretch>
            <a:fillRect/>
          </a:stretch>
        </p:blipFill>
        <p:spPr>
          <a:xfrm>
            <a:off x="825798" y="794638"/>
            <a:ext cx="3554225" cy="3554225"/>
          </a:xfrm>
          <a:prstGeom prst="rect">
            <a:avLst/>
          </a:prstGeom>
          <a:noFill/>
          <a:ln>
            <a:noFill/>
          </a:ln>
        </p:spPr>
      </p:pic>
      <p:pic>
        <p:nvPicPr>
          <p:cNvPr id="251" name="Google Shape;251;p25"/>
          <p:cNvPicPr preferRelativeResize="0"/>
          <p:nvPr/>
        </p:nvPicPr>
        <p:blipFill>
          <a:blip r:embed="rId4">
            <a:alphaModFix/>
          </a:blip>
          <a:stretch>
            <a:fillRect/>
          </a:stretch>
        </p:blipFill>
        <p:spPr>
          <a:xfrm>
            <a:off x="2444700" y="162737"/>
            <a:ext cx="4254600" cy="4818038"/>
          </a:xfrm>
          <a:prstGeom prst="rect">
            <a:avLst/>
          </a:prstGeom>
          <a:noFill/>
          <a:ln>
            <a:noFill/>
          </a:ln>
        </p:spPr>
      </p:pic>
      <p:sp>
        <p:nvSpPr>
          <p:cNvPr id="252" name="Google Shape;252;p25"/>
          <p:cNvSpPr txBox="1"/>
          <p:nvPr/>
        </p:nvSpPr>
        <p:spPr>
          <a:xfrm>
            <a:off x="2855550" y="725120"/>
            <a:ext cx="3432900" cy="76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500">
                <a:solidFill>
                  <a:schemeClr val="lt2"/>
                </a:solidFill>
                <a:latin typeface="Montserrat ExtraBold"/>
                <a:ea typeface="Montserrat ExtraBold"/>
                <a:cs typeface="Montserrat ExtraBold"/>
                <a:sym typeface="Montserrat ExtraBold"/>
              </a:rPr>
              <a:t>Code</a:t>
            </a:r>
            <a:endParaRPr sz="2500">
              <a:solidFill>
                <a:schemeClr val="lt2"/>
              </a:solidFill>
              <a:latin typeface="Montserrat ExtraBold"/>
              <a:ea typeface="Montserrat ExtraBold"/>
              <a:cs typeface="Montserrat ExtraBold"/>
              <a:sym typeface="Montserrat ExtraBold"/>
            </a:endParaRPr>
          </a:p>
        </p:txBody>
      </p:sp>
      <p:sp>
        <p:nvSpPr>
          <p:cNvPr id="253" name="Google Shape;253;p25"/>
          <p:cNvSpPr txBox="1"/>
          <p:nvPr>
            <p:ph idx="4294967295" type="body"/>
          </p:nvPr>
        </p:nvSpPr>
        <p:spPr>
          <a:xfrm>
            <a:off x="2855550" y="1415203"/>
            <a:ext cx="3432900" cy="332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Montserrat"/>
                <a:ea typeface="Montserrat"/>
                <a:cs typeface="Montserrat"/>
                <a:sym typeface="Montserrat"/>
              </a:rPr>
              <a:t>AI can generate code</a:t>
            </a:r>
            <a:endParaRPr b="1" sz="1100">
              <a:latin typeface="Montserrat"/>
              <a:ea typeface="Montserrat"/>
              <a:cs typeface="Montserrat"/>
              <a:sym typeface="Montserrat"/>
            </a:endParaRPr>
          </a:p>
          <a:p>
            <a:pPr indent="0" lvl="0" marL="0" rtl="0" algn="just">
              <a:spcBef>
                <a:spcPts val="1200"/>
              </a:spcBef>
              <a:spcAft>
                <a:spcPts val="0"/>
              </a:spcAft>
              <a:buClr>
                <a:schemeClr val="dk2"/>
              </a:buClr>
              <a:buSzPts val="1100"/>
              <a:buFont typeface="Arial"/>
              <a:buNone/>
            </a:pPr>
            <a:r>
              <a:rPr lang="en" sz="1000">
                <a:latin typeface="Montserrat"/>
                <a:ea typeface="Montserrat"/>
                <a:cs typeface="Montserrat"/>
                <a:sym typeface="Montserrat"/>
              </a:rPr>
              <a:t>Most engineering time goes to implementation, not decisions. AI can turn a spec or ticket straight into working code, generating the boilerplate and repetitive parts of a build so engineers spend their time on the harder ten percent.</a:t>
            </a:r>
            <a:endParaRPr sz="1000">
              <a:latin typeface="Montserrat"/>
              <a:ea typeface="Montserrat"/>
              <a:cs typeface="Montserrat"/>
              <a:sym typeface="Montserrat"/>
            </a:endParaRPr>
          </a:p>
          <a:p>
            <a:pPr indent="0" lvl="0" marL="0" rtl="0" algn="just">
              <a:spcBef>
                <a:spcPts val="1200"/>
              </a:spcBef>
              <a:spcAft>
                <a:spcPts val="0"/>
              </a:spcAft>
              <a:buNone/>
            </a:pPr>
            <a:r>
              <a:rPr lang="en" sz="1000">
                <a:latin typeface="Montserrat"/>
                <a:ea typeface="Montserrat"/>
                <a:cs typeface="Montserrat"/>
                <a:sym typeface="Montserrat"/>
              </a:rPr>
              <a:t>That generation doesn't stop at a first draft either. AI can navigate an existing codebase, run the tests, and fix its own errors along the way, with some tools operating directly from the terminal to carry out multi-step changes with minimal hand-holding.</a:t>
            </a:r>
            <a:endParaRPr sz="1000">
              <a:latin typeface="Montserrat"/>
              <a:ea typeface="Montserrat"/>
              <a:cs typeface="Montserrat"/>
              <a:sym typeface="Montserrat"/>
            </a:endParaRPr>
          </a:p>
          <a:p>
            <a:pPr indent="0" lvl="0" marL="0" rtl="0" algn="l">
              <a:spcBef>
                <a:spcPts val="1200"/>
              </a:spcBef>
              <a:spcAft>
                <a:spcPts val="1200"/>
              </a:spcAft>
              <a:buNone/>
            </a:pPr>
            <a:r>
              <a:rPr i="1" lang="en" sz="1000">
                <a:latin typeface="Montserrat"/>
                <a:ea typeface="Montserrat"/>
                <a:cs typeface="Montserrat"/>
                <a:sym typeface="Montserrat"/>
              </a:rPr>
              <a:t>Leading tools*: </a:t>
            </a:r>
            <a:r>
              <a:rPr i="1" lang="en" sz="1000">
                <a:latin typeface="Montserrat"/>
                <a:ea typeface="Montserrat"/>
                <a:cs typeface="Montserrat"/>
                <a:sym typeface="Montserrat"/>
              </a:rPr>
              <a:t>Claude Code, Copilot, Cursor</a:t>
            </a:r>
            <a:endParaRPr i="1" sz="1000">
              <a:latin typeface="Montserrat"/>
              <a:ea typeface="Montserrat"/>
              <a:cs typeface="Montserrat"/>
              <a:sym typeface="Montserrat"/>
            </a:endParaRPr>
          </a:p>
        </p:txBody>
      </p:sp>
      <p:pic>
        <p:nvPicPr>
          <p:cNvPr id="254" name="Google Shape;254;p25"/>
          <p:cNvPicPr preferRelativeResize="0"/>
          <p:nvPr/>
        </p:nvPicPr>
        <p:blipFill>
          <a:blip r:embed="rId5">
            <a:alphaModFix/>
          </a:blip>
          <a:stretch>
            <a:fillRect/>
          </a:stretch>
        </p:blipFill>
        <p:spPr>
          <a:xfrm>
            <a:off x="4143925" y="251042"/>
            <a:ext cx="856150" cy="856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AE88"/>
        </a:solidFill>
      </p:bgPr>
    </p:bg>
    <p:spTree>
      <p:nvGrpSpPr>
        <p:cNvPr id="258" name="Shape 258"/>
        <p:cNvGrpSpPr/>
        <p:nvPr/>
      </p:nvGrpSpPr>
      <p:grpSpPr>
        <a:xfrm>
          <a:off x="0" y="0"/>
          <a:ext cx="0" cy="0"/>
          <a:chOff x="0" y="0"/>
          <a:chExt cx="0" cy="0"/>
        </a:xfrm>
      </p:grpSpPr>
      <p:pic>
        <p:nvPicPr>
          <p:cNvPr id="259" name="Google Shape;259;p26"/>
          <p:cNvPicPr preferRelativeResize="0"/>
          <p:nvPr/>
        </p:nvPicPr>
        <p:blipFill>
          <a:blip r:embed="rId3">
            <a:alphaModFix amt="50000"/>
          </a:blip>
          <a:stretch>
            <a:fillRect/>
          </a:stretch>
        </p:blipFill>
        <p:spPr>
          <a:xfrm>
            <a:off x="4913882" y="953354"/>
            <a:ext cx="3236800" cy="3236800"/>
          </a:xfrm>
          <a:prstGeom prst="rect">
            <a:avLst/>
          </a:prstGeom>
          <a:noFill/>
          <a:ln>
            <a:noFill/>
          </a:ln>
        </p:spPr>
      </p:pic>
      <p:pic>
        <p:nvPicPr>
          <p:cNvPr id="260" name="Google Shape;260;p26"/>
          <p:cNvPicPr preferRelativeResize="0"/>
          <p:nvPr/>
        </p:nvPicPr>
        <p:blipFill>
          <a:blip r:embed="rId3">
            <a:alphaModFix amt="50000"/>
          </a:blip>
          <a:stretch>
            <a:fillRect/>
          </a:stretch>
        </p:blipFill>
        <p:spPr>
          <a:xfrm>
            <a:off x="967500" y="953354"/>
            <a:ext cx="3236800" cy="3236800"/>
          </a:xfrm>
          <a:prstGeom prst="rect">
            <a:avLst/>
          </a:prstGeom>
          <a:noFill/>
          <a:ln>
            <a:noFill/>
          </a:ln>
        </p:spPr>
      </p:pic>
      <p:pic>
        <p:nvPicPr>
          <p:cNvPr id="261" name="Google Shape;261;p26"/>
          <p:cNvPicPr preferRelativeResize="0"/>
          <p:nvPr/>
        </p:nvPicPr>
        <p:blipFill>
          <a:blip r:embed="rId4">
            <a:alphaModFix/>
          </a:blip>
          <a:stretch>
            <a:fillRect/>
          </a:stretch>
        </p:blipFill>
        <p:spPr>
          <a:xfrm>
            <a:off x="2444700" y="162737"/>
            <a:ext cx="4254600" cy="4818038"/>
          </a:xfrm>
          <a:prstGeom prst="rect">
            <a:avLst/>
          </a:prstGeom>
          <a:noFill/>
          <a:ln>
            <a:noFill/>
          </a:ln>
        </p:spPr>
      </p:pic>
      <p:sp>
        <p:nvSpPr>
          <p:cNvPr id="262" name="Google Shape;262;p26"/>
          <p:cNvSpPr txBox="1"/>
          <p:nvPr/>
        </p:nvSpPr>
        <p:spPr>
          <a:xfrm>
            <a:off x="2855550" y="773145"/>
            <a:ext cx="3432900" cy="76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500">
                <a:solidFill>
                  <a:schemeClr val="lt2"/>
                </a:solidFill>
                <a:latin typeface="Montserrat ExtraBold"/>
                <a:ea typeface="Montserrat ExtraBold"/>
                <a:cs typeface="Montserrat ExtraBold"/>
                <a:sym typeface="Montserrat ExtraBold"/>
              </a:rPr>
              <a:t>CI/CD</a:t>
            </a:r>
            <a:endParaRPr sz="2500">
              <a:solidFill>
                <a:schemeClr val="lt2"/>
              </a:solidFill>
              <a:latin typeface="Montserrat ExtraBold"/>
              <a:ea typeface="Montserrat ExtraBold"/>
              <a:cs typeface="Montserrat ExtraBold"/>
              <a:sym typeface="Montserrat ExtraBold"/>
            </a:endParaRPr>
          </a:p>
        </p:txBody>
      </p:sp>
      <p:sp>
        <p:nvSpPr>
          <p:cNvPr id="263" name="Google Shape;263;p26"/>
          <p:cNvSpPr txBox="1"/>
          <p:nvPr>
            <p:ph idx="4294967295" type="body"/>
          </p:nvPr>
        </p:nvSpPr>
        <p:spPr>
          <a:xfrm>
            <a:off x="2855550" y="1463228"/>
            <a:ext cx="3432900" cy="332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Montserrat"/>
                <a:ea typeface="Montserrat"/>
                <a:cs typeface="Montserrat"/>
                <a:sym typeface="Montserrat"/>
              </a:rPr>
              <a:t>AI can fix pipelines</a:t>
            </a:r>
            <a:endParaRPr b="1" sz="1100">
              <a:latin typeface="Montserrat"/>
              <a:ea typeface="Montserrat"/>
              <a:cs typeface="Montserrat"/>
              <a:sym typeface="Montserrat"/>
            </a:endParaRPr>
          </a:p>
          <a:p>
            <a:pPr indent="0" lvl="0" marL="0" rtl="0" algn="just">
              <a:spcBef>
                <a:spcPts val="1200"/>
              </a:spcBef>
              <a:spcAft>
                <a:spcPts val="0"/>
              </a:spcAft>
              <a:buClr>
                <a:schemeClr val="dk2"/>
              </a:buClr>
              <a:buSzPts val="1100"/>
              <a:buFont typeface="Arial"/>
              <a:buNone/>
            </a:pPr>
            <a:r>
              <a:rPr lang="en" sz="1000">
                <a:latin typeface="Montserrat"/>
                <a:ea typeface="Montserrat"/>
                <a:cs typeface="Montserrat"/>
                <a:sym typeface="Montserrat"/>
              </a:rPr>
              <a:t>A failed pipeline usually means someone stops what they're doing to dig through logs. AI can read those logs, identify what actually broke, and explain it in plain language before anyone opens a terminal.</a:t>
            </a:r>
            <a:endParaRPr sz="1000">
              <a:latin typeface="Montserrat"/>
              <a:ea typeface="Montserrat"/>
              <a:cs typeface="Montserrat"/>
              <a:sym typeface="Montserrat"/>
            </a:endParaRPr>
          </a:p>
          <a:p>
            <a:pPr indent="0" lvl="0" marL="0" rtl="0" algn="just">
              <a:spcBef>
                <a:spcPts val="1200"/>
              </a:spcBef>
              <a:spcAft>
                <a:spcPts val="0"/>
              </a:spcAft>
              <a:buNone/>
            </a:pPr>
            <a:r>
              <a:rPr lang="en" sz="1000">
                <a:latin typeface="Montserrat"/>
                <a:ea typeface="Montserrat"/>
                <a:cs typeface="Montserrat"/>
                <a:sym typeface="Montserrat"/>
              </a:rPr>
              <a:t>Diagnosis is just the first step toward the fix, though. AI can propose the actual change needed, and some platforms open a merge request automatically the moment they've diagnosed a broken build.</a:t>
            </a:r>
            <a:endParaRPr sz="1000">
              <a:latin typeface="Montserrat"/>
              <a:ea typeface="Montserrat"/>
              <a:cs typeface="Montserrat"/>
              <a:sym typeface="Montserrat"/>
            </a:endParaRPr>
          </a:p>
          <a:p>
            <a:pPr indent="0" lvl="0" marL="0" rtl="0" algn="l">
              <a:spcBef>
                <a:spcPts val="1200"/>
              </a:spcBef>
              <a:spcAft>
                <a:spcPts val="1200"/>
              </a:spcAft>
              <a:buNone/>
            </a:pPr>
            <a:r>
              <a:rPr i="1" lang="en" sz="1000">
                <a:latin typeface="Montserrat"/>
                <a:ea typeface="Montserrat"/>
                <a:cs typeface="Montserrat"/>
                <a:sym typeface="Montserrat"/>
              </a:rPr>
              <a:t>Leading tools*: GitHub Actions, GitLab CI</a:t>
            </a:r>
            <a:endParaRPr i="1" sz="1000">
              <a:latin typeface="Montserrat"/>
              <a:ea typeface="Montserrat"/>
              <a:cs typeface="Montserrat"/>
              <a:sym typeface="Montserrat"/>
            </a:endParaRPr>
          </a:p>
        </p:txBody>
      </p:sp>
      <p:pic>
        <p:nvPicPr>
          <p:cNvPr id="264" name="Google Shape;264;p26"/>
          <p:cNvPicPr preferRelativeResize="0"/>
          <p:nvPr/>
        </p:nvPicPr>
        <p:blipFill>
          <a:blip r:embed="rId5">
            <a:alphaModFix/>
          </a:blip>
          <a:stretch>
            <a:fillRect/>
          </a:stretch>
        </p:blipFill>
        <p:spPr>
          <a:xfrm>
            <a:off x="4204313" y="342042"/>
            <a:ext cx="735375" cy="735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966"/>
        </a:solidFill>
      </p:bgPr>
    </p:bg>
    <p:spTree>
      <p:nvGrpSpPr>
        <p:cNvPr id="268" name="Shape 268"/>
        <p:cNvGrpSpPr/>
        <p:nvPr/>
      </p:nvGrpSpPr>
      <p:grpSpPr>
        <a:xfrm>
          <a:off x="0" y="0"/>
          <a:ext cx="0" cy="0"/>
          <a:chOff x="0" y="0"/>
          <a:chExt cx="0" cy="0"/>
        </a:xfrm>
      </p:grpSpPr>
      <p:pic>
        <p:nvPicPr>
          <p:cNvPr id="269" name="Google Shape;269;p27"/>
          <p:cNvPicPr preferRelativeResize="0"/>
          <p:nvPr/>
        </p:nvPicPr>
        <p:blipFill>
          <a:blip r:embed="rId3">
            <a:alphaModFix amt="50000"/>
          </a:blip>
          <a:stretch>
            <a:fillRect/>
          </a:stretch>
        </p:blipFill>
        <p:spPr>
          <a:xfrm>
            <a:off x="4785311" y="802475"/>
            <a:ext cx="3538550" cy="3538550"/>
          </a:xfrm>
          <a:prstGeom prst="rect">
            <a:avLst/>
          </a:prstGeom>
          <a:noFill/>
          <a:ln>
            <a:noFill/>
          </a:ln>
        </p:spPr>
      </p:pic>
      <p:pic>
        <p:nvPicPr>
          <p:cNvPr id="270" name="Google Shape;270;p27"/>
          <p:cNvPicPr preferRelativeResize="0"/>
          <p:nvPr/>
        </p:nvPicPr>
        <p:blipFill>
          <a:blip r:embed="rId3">
            <a:alphaModFix amt="50000"/>
          </a:blip>
          <a:stretch>
            <a:fillRect/>
          </a:stretch>
        </p:blipFill>
        <p:spPr>
          <a:xfrm>
            <a:off x="829168" y="802475"/>
            <a:ext cx="3538550" cy="3538550"/>
          </a:xfrm>
          <a:prstGeom prst="rect">
            <a:avLst/>
          </a:prstGeom>
          <a:noFill/>
          <a:ln>
            <a:noFill/>
          </a:ln>
        </p:spPr>
      </p:pic>
      <p:pic>
        <p:nvPicPr>
          <p:cNvPr id="271" name="Google Shape;271;p27"/>
          <p:cNvPicPr preferRelativeResize="0"/>
          <p:nvPr/>
        </p:nvPicPr>
        <p:blipFill>
          <a:blip r:embed="rId4">
            <a:alphaModFix/>
          </a:blip>
          <a:stretch>
            <a:fillRect/>
          </a:stretch>
        </p:blipFill>
        <p:spPr>
          <a:xfrm>
            <a:off x="2444700" y="162737"/>
            <a:ext cx="4254600" cy="4818038"/>
          </a:xfrm>
          <a:prstGeom prst="rect">
            <a:avLst/>
          </a:prstGeom>
          <a:noFill/>
          <a:ln>
            <a:noFill/>
          </a:ln>
        </p:spPr>
      </p:pic>
      <p:sp>
        <p:nvSpPr>
          <p:cNvPr id="272" name="Google Shape;272;p27"/>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500">
                <a:solidFill>
                  <a:schemeClr val="lt2"/>
                </a:solidFill>
                <a:latin typeface="Montserrat ExtraBold"/>
                <a:ea typeface="Montserrat ExtraBold"/>
                <a:cs typeface="Montserrat ExtraBold"/>
                <a:sym typeface="Montserrat ExtraBold"/>
              </a:rPr>
              <a:t>Validate</a:t>
            </a:r>
            <a:endParaRPr sz="2500">
              <a:solidFill>
                <a:schemeClr val="lt2"/>
              </a:solidFill>
              <a:latin typeface="Montserrat ExtraBold"/>
              <a:ea typeface="Montserrat ExtraBold"/>
              <a:cs typeface="Montserrat ExtraBold"/>
              <a:sym typeface="Montserrat ExtraBold"/>
            </a:endParaRPr>
          </a:p>
        </p:txBody>
      </p:sp>
      <p:sp>
        <p:nvSpPr>
          <p:cNvPr id="273" name="Google Shape;273;p27"/>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Montserrat"/>
                <a:ea typeface="Montserrat"/>
                <a:cs typeface="Montserrat"/>
                <a:sym typeface="Montserrat"/>
              </a:rPr>
              <a:t>AI can generate tests</a:t>
            </a:r>
            <a:endParaRPr b="1" sz="1100">
              <a:latin typeface="Montserrat"/>
              <a:ea typeface="Montserrat"/>
              <a:cs typeface="Montserrat"/>
              <a:sym typeface="Montserrat"/>
            </a:endParaRPr>
          </a:p>
          <a:p>
            <a:pPr indent="0" lvl="0" marL="0" rtl="0" algn="just">
              <a:spcBef>
                <a:spcPts val="1200"/>
              </a:spcBef>
              <a:spcAft>
                <a:spcPts val="0"/>
              </a:spcAft>
              <a:buClr>
                <a:schemeClr val="dk2"/>
              </a:buClr>
              <a:buSzPts val="1100"/>
              <a:buFont typeface="Arial"/>
              <a:buNone/>
            </a:pPr>
            <a:r>
              <a:rPr lang="en" sz="1000">
                <a:latin typeface="Montserrat"/>
                <a:ea typeface="Montserrat"/>
                <a:cs typeface="Montserrat"/>
                <a:sym typeface="Montserrat"/>
              </a:rPr>
              <a:t>Writing and maintaining test coverage is often the first thing to slip under deadline pressure. AI can generate functional, security, and performance tests directly from how the product actually behaves, rather than from a checklist someone has to keep updating by hand.</a:t>
            </a:r>
            <a:endParaRPr sz="1000">
              <a:latin typeface="Montserrat"/>
              <a:ea typeface="Montserrat"/>
              <a:cs typeface="Montserrat"/>
              <a:sym typeface="Montserrat"/>
            </a:endParaRPr>
          </a:p>
          <a:p>
            <a:pPr indent="0" lvl="0" marL="0" rtl="0" algn="just">
              <a:spcBef>
                <a:spcPts val="1200"/>
              </a:spcBef>
              <a:spcAft>
                <a:spcPts val="0"/>
              </a:spcAft>
              <a:buNone/>
            </a:pPr>
            <a:r>
              <a:rPr lang="en" sz="1000">
                <a:latin typeface="Montserrat"/>
                <a:ea typeface="Montserrat"/>
                <a:cs typeface="Montserrat"/>
                <a:sym typeface="Montserrat"/>
              </a:rPr>
              <a:t>Those generated tests don't have to break every time the interface changes either. Some platforms self-heal automatically, adjusting the test to match new behavior instead of just failing and waiting for someone to notice.</a:t>
            </a:r>
            <a:endParaRPr sz="1000">
              <a:latin typeface="Montserrat"/>
              <a:ea typeface="Montserrat"/>
              <a:cs typeface="Montserrat"/>
              <a:sym typeface="Montserrat"/>
            </a:endParaRPr>
          </a:p>
          <a:p>
            <a:pPr indent="0" lvl="0" marL="0" rtl="0" algn="l">
              <a:spcBef>
                <a:spcPts val="1200"/>
              </a:spcBef>
              <a:spcAft>
                <a:spcPts val="1200"/>
              </a:spcAft>
              <a:buNone/>
            </a:pPr>
            <a:r>
              <a:rPr i="1" lang="en" sz="1000">
                <a:latin typeface="Montserrat"/>
                <a:ea typeface="Montserrat"/>
                <a:cs typeface="Montserrat"/>
                <a:sym typeface="Montserrat"/>
              </a:rPr>
              <a:t>Leading tools*: </a:t>
            </a:r>
            <a:r>
              <a:rPr i="1" lang="en" sz="1000">
                <a:latin typeface="Montserrat"/>
                <a:ea typeface="Montserrat"/>
                <a:cs typeface="Montserrat"/>
                <a:sym typeface="Montserrat"/>
              </a:rPr>
              <a:t>Playwright, SonarQube, Mabl</a:t>
            </a:r>
            <a:endParaRPr i="1" sz="1000">
              <a:latin typeface="Montserrat"/>
              <a:ea typeface="Montserrat"/>
              <a:cs typeface="Montserrat"/>
              <a:sym typeface="Montserrat"/>
            </a:endParaRPr>
          </a:p>
        </p:txBody>
      </p:sp>
      <p:pic>
        <p:nvPicPr>
          <p:cNvPr id="274" name="Google Shape;274;p27"/>
          <p:cNvPicPr preferRelativeResize="0"/>
          <p:nvPr/>
        </p:nvPicPr>
        <p:blipFill>
          <a:blip r:embed="rId5">
            <a:alphaModFix/>
          </a:blip>
          <a:stretch>
            <a:fillRect/>
          </a:stretch>
        </p:blipFill>
        <p:spPr>
          <a:xfrm>
            <a:off x="4333500" y="407175"/>
            <a:ext cx="477000" cy="477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8"/>
          <p:cNvSpPr txBox="1"/>
          <p:nvPr>
            <p:ph type="title"/>
          </p:nvPr>
        </p:nvSpPr>
        <p:spPr>
          <a:xfrm>
            <a:off x="283100" y="712150"/>
            <a:ext cx="8631600" cy="38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latin typeface="Montserrat"/>
                <a:ea typeface="Montserrat"/>
                <a:cs typeface="Montserrat"/>
                <a:sym typeface="Montserrat"/>
              </a:rPr>
              <a:t>Do you need help</a:t>
            </a:r>
            <a:endParaRPr sz="4200">
              <a:latin typeface="Montserrat"/>
              <a:ea typeface="Montserrat"/>
              <a:cs typeface="Montserrat"/>
              <a:sym typeface="Montserrat"/>
            </a:endParaRPr>
          </a:p>
          <a:p>
            <a:pPr indent="0" lvl="0" marL="0" rtl="0" algn="l">
              <a:spcBef>
                <a:spcPts val="0"/>
              </a:spcBef>
              <a:spcAft>
                <a:spcPts val="0"/>
              </a:spcAft>
              <a:buNone/>
            </a:pPr>
            <a:r>
              <a:rPr lang="en" sz="4200">
                <a:solidFill>
                  <a:schemeClr val="accent5"/>
                </a:solidFill>
                <a:latin typeface="Montserrat"/>
                <a:ea typeface="Montserrat"/>
                <a:cs typeface="Montserrat"/>
                <a:sym typeface="Montserrat"/>
              </a:rPr>
              <a:t>transforming your business</a:t>
            </a:r>
            <a:endParaRPr sz="4200">
              <a:solidFill>
                <a:schemeClr val="accent5"/>
              </a:solidFill>
              <a:latin typeface="Montserrat"/>
              <a:ea typeface="Montserrat"/>
              <a:cs typeface="Montserrat"/>
              <a:sym typeface="Montserrat"/>
            </a:endParaRPr>
          </a:p>
          <a:p>
            <a:pPr indent="0" lvl="0" marL="0" rtl="0" algn="l">
              <a:spcBef>
                <a:spcPts val="0"/>
              </a:spcBef>
              <a:spcAft>
                <a:spcPts val="0"/>
              </a:spcAft>
              <a:buNone/>
            </a:pPr>
            <a:r>
              <a:rPr lang="en" sz="4200">
                <a:solidFill>
                  <a:schemeClr val="accent5"/>
                </a:solidFill>
                <a:latin typeface="Montserrat"/>
                <a:ea typeface="Montserrat"/>
                <a:cs typeface="Montserrat"/>
                <a:sym typeface="Montserrat"/>
              </a:rPr>
              <a:t>with AI and technology?</a:t>
            </a:r>
            <a:endParaRPr sz="4200">
              <a:solidFill>
                <a:schemeClr val="accent5"/>
              </a:solidFill>
              <a:latin typeface="Montserrat"/>
              <a:ea typeface="Montserrat"/>
              <a:cs typeface="Montserrat"/>
              <a:sym typeface="Montserrat"/>
            </a:endParaRPr>
          </a:p>
        </p:txBody>
      </p:sp>
      <p:grpSp>
        <p:nvGrpSpPr>
          <p:cNvPr id="280" name="Google Shape;280;p28"/>
          <p:cNvGrpSpPr/>
          <p:nvPr/>
        </p:nvGrpSpPr>
        <p:grpSpPr>
          <a:xfrm>
            <a:off x="6781400" y="2903175"/>
            <a:ext cx="2212050" cy="2098176"/>
            <a:chOff x="6803275" y="608109"/>
            <a:chExt cx="2212050" cy="2324333"/>
          </a:xfrm>
        </p:grpSpPr>
        <p:pic>
          <p:nvPicPr>
            <p:cNvPr id="281" name="Google Shape;281;p28"/>
            <p:cNvPicPr preferRelativeResize="0"/>
            <p:nvPr/>
          </p:nvPicPr>
          <p:blipFill>
            <a:blip r:embed="rId3">
              <a:alphaModFix/>
            </a:blip>
            <a:stretch>
              <a:fillRect/>
            </a:stretch>
          </p:blipFill>
          <p:spPr>
            <a:xfrm>
              <a:off x="6803275" y="608109"/>
              <a:ext cx="2212050" cy="2324333"/>
            </a:xfrm>
            <a:prstGeom prst="rect">
              <a:avLst/>
            </a:prstGeom>
            <a:noFill/>
            <a:ln>
              <a:noFill/>
            </a:ln>
          </p:spPr>
        </p:pic>
        <p:sp>
          <p:nvSpPr>
            <p:cNvPr id="282" name="Google Shape;282;p28"/>
            <p:cNvSpPr txBox="1"/>
            <p:nvPr/>
          </p:nvSpPr>
          <p:spPr>
            <a:xfrm>
              <a:off x="6944800" y="730630"/>
              <a:ext cx="1929000"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n">
                  <a:solidFill>
                    <a:schemeClr val="dk1"/>
                  </a:solidFill>
                  <a:latin typeface="Montserrat"/>
                  <a:ea typeface="Montserrat"/>
                  <a:cs typeface="Montserrat"/>
                  <a:sym typeface="Montserrat"/>
                </a:rPr>
                <a:t>I can help. </a:t>
              </a:r>
              <a:endParaRPr b="1">
                <a:solidFill>
                  <a:schemeClr val="dk1"/>
                </a:solidFill>
                <a:latin typeface="Montserrat"/>
                <a:ea typeface="Montserrat"/>
                <a:cs typeface="Montserrat"/>
                <a:sym typeface="Montserrat"/>
              </a:endParaRPr>
            </a:p>
            <a:p>
              <a:pPr indent="0" lvl="0" marL="0" rtl="0" algn="l">
                <a:spcBef>
                  <a:spcPts val="800"/>
                </a:spcBef>
                <a:spcAft>
                  <a:spcPts val="0"/>
                </a:spcAft>
                <a:buNone/>
              </a:pPr>
              <a:r>
                <a:rPr b="1" lang="en" sz="900">
                  <a:solidFill>
                    <a:schemeClr val="dk2"/>
                  </a:solidFill>
                  <a:latin typeface="Montserrat"/>
                  <a:ea typeface="Montserrat"/>
                  <a:cs typeface="Montserrat"/>
                  <a:sym typeface="Montserrat"/>
                </a:rPr>
                <a:t>I built a career creating software solutions that make complex processes simpler and faster. From product engineering to business transformation, I can lead your team to create solutions that lead to results. </a:t>
              </a:r>
              <a:endParaRPr b="1" sz="900">
                <a:solidFill>
                  <a:schemeClr val="dk2"/>
                </a:solidFill>
                <a:latin typeface="Montserrat"/>
                <a:ea typeface="Montserrat"/>
                <a:cs typeface="Montserrat"/>
                <a:sym typeface="Montserrat"/>
              </a:endParaRPr>
            </a:p>
            <a:p>
              <a:pPr indent="0" lvl="0" marL="0" rtl="0" algn="l">
                <a:spcBef>
                  <a:spcPts val="800"/>
                </a:spcBef>
                <a:spcAft>
                  <a:spcPts val="800"/>
                </a:spcAft>
                <a:buNone/>
              </a:pPr>
              <a:r>
                <a:rPr b="1" lang="en" sz="900">
                  <a:solidFill>
                    <a:schemeClr val="dk2"/>
                  </a:solidFill>
                  <a:latin typeface="Montserrat"/>
                  <a:ea typeface="Montserrat"/>
                  <a:cs typeface="Montserrat"/>
                  <a:sym typeface="Montserrat"/>
                </a:rPr>
                <a:t>AriKoinuma@gmail.com</a:t>
              </a:r>
              <a:endParaRPr b="1" sz="900">
                <a:solidFill>
                  <a:schemeClr val="dk2"/>
                </a:solidFill>
                <a:latin typeface="Montserrat"/>
                <a:ea typeface="Montserrat"/>
                <a:cs typeface="Montserrat"/>
                <a:sym typeface="Montserrat"/>
              </a:endParaRPr>
            </a:p>
          </p:txBody>
        </p:sp>
      </p:grpSp>
      <p:sp>
        <p:nvSpPr>
          <p:cNvPr id="283" name="Google Shape;283;p28"/>
          <p:cNvSpPr txBox="1"/>
          <p:nvPr/>
        </p:nvSpPr>
        <p:spPr>
          <a:xfrm>
            <a:off x="264050" y="4734200"/>
            <a:ext cx="65922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700">
                <a:solidFill>
                  <a:schemeClr val="lt1"/>
                </a:solidFill>
              </a:rPr>
              <a:t>*Leading tools were selected based on research. A tool listed here does not indicate my endorsement or that I have personal experience using them. </a:t>
            </a:r>
            <a:endParaRPr i="1" sz="7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